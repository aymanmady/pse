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56" r:id="rId2"/>
    <p:sldId id="319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8" r:id="rId11"/>
    <p:sldId id="330" r:id="rId12"/>
    <p:sldId id="329" r:id="rId13"/>
    <p:sldId id="343" r:id="rId14"/>
    <p:sldId id="331" r:id="rId15"/>
    <p:sldId id="304" r:id="rId16"/>
    <p:sldId id="333" r:id="rId17"/>
    <p:sldId id="345" r:id="rId18"/>
    <p:sldId id="339" r:id="rId19"/>
    <p:sldId id="334" r:id="rId20"/>
    <p:sldId id="342" r:id="rId21"/>
    <p:sldId id="346" r:id="rId22"/>
    <p:sldId id="344" r:id="rId23"/>
    <p:sldId id="341" r:id="rId24"/>
    <p:sldId id="337" r:id="rId25"/>
    <p:sldId id="347" r:id="rId26"/>
    <p:sldId id="316" r:id="rId27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C36345"/>
    <a:srgbClr val="791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91" autoAdjust="0"/>
  </p:normalViewPr>
  <p:slideViewPr>
    <p:cSldViewPr>
      <p:cViewPr>
        <p:scale>
          <a:sx n="72" d="100"/>
          <a:sy n="72" d="100"/>
        </p:scale>
        <p:origin x="135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A9A171-BD8F-4B7B-9710-F7AF881E2801}" type="datetimeFigureOut">
              <a:rPr lang="en-US" smtClean="0"/>
              <a:pPr/>
              <a:t>1/1/2024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7939C-76FF-46B6-90E2-B01D5010517F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76322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56D96-EFCF-4967-BAAE-F7BAB4B0AE63}" type="datetimeFigureOut">
              <a:rPr lang="en-US" smtClean="0"/>
              <a:pPr/>
              <a:t>1/1/2024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7161F-8DCA-4C02-81C7-87B2CB63DC84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834904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endParaRPr lang="fr-FR" sz="1200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57161F-8DCA-4C02-81C7-87B2CB63DC84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693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7161F-8DCA-4C02-81C7-87B2CB63DC84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2991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1"/>
          <p:cNvGrpSpPr/>
          <p:nvPr/>
        </p:nvGrpSpPr>
        <p:grpSpPr>
          <a:xfrm>
            <a:off x="0" y="0"/>
            <a:ext cx="9144000" cy="6400800"/>
            <a:chOff x="0" y="0"/>
            <a:chExt cx="9144000" cy="6400800"/>
          </a:xfrm>
        </p:grpSpPr>
        <p:sp>
          <p:nvSpPr>
            <p:cNvPr id="16" name="Rectangle 15"/>
            <p:cNvSpPr/>
            <p:nvPr/>
          </p:nvSpPr>
          <p:spPr>
            <a:xfrm>
              <a:off x="1828800" y="4572000"/>
              <a:ext cx="6858000" cy="182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8" name="Group 10"/>
            <p:cNvGrpSpPr/>
            <p:nvPr/>
          </p:nvGrpSpPr>
          <p:grpSpPr>
            <a:xfrm>
              <a:off x="0" y="0"/>
              <a:ext cx="9144000" cy="6400800"/>
              <a:chOff x="0" y="0"/>
              <a:chExt cx="9144000" cy="640080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0" y="0"/>
                <a:ext cx="1828800" cy="64008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0" y="4572000"/>
                <a:ext cx="9144000" cy="1828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reflection blurRad="6350" stA="50000" endA="300" endPos="38500" dist="50800" dir="5400000" sy="-100000" algn="bl" rotWithShape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13" name="Rectangle 12"/>
            <p:cNvSpPr/>
            <p:nvPr/>
          </p:nvSpPr>
          <p:spPr>
            <a:xfrm>
              <a:off x="0" y="4572000"/>
              <a:ext cx="1828800" cy="18288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34200" y="6553200"/>
            <a:ext cx="1676400" cy="228600"/>
          </a:xfrm>
        </p:spPr>
        <p:txBody>
          <a:bodyPr vert="horz" lIns="91440" tIns="45720" rIns="91440" bIns="45720" rtlCol="0" anchor="t" anchorCtr="0"/>
          <a:lstStyle>
            <a:lvl1pPr marL="0" algn="r" defTabSz="914400" rtl="0" eaLnBrk="1" latinLnBrk="0" hangingPunct="1">
              <a:defRPr sz="900" kern="1200" cap="small" baseline="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3/28/2008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91553" y="6553200"/>
            <a:ext cx="1676400" cy="228600"/>
          </a:xfrm>
        </p:spPr>
        <p:txBody>
          <a:bodyPr anchor="t" anchorCtr="0"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0076" y="6553200"/>
            <a:ext cx="762000" cy="228600"/>
          </a:xfrm>
          <a:noFill/>
          <a:ln>
            <a:noFill/>
          </a:ln>
          <a:effectLst/>
        </p:spPr>
        <p:txBody>
          <a:bodyPr/>
          <a:lstStyle>
            <a:lvl1pPr algn="ctr">
              <a:defRPr sz="900" kern="1200" cap="small" baseline="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1pPr>
          </a:lstStyle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5000" y="5867400"/>
            <a:ext cx="6570722" cy="457200"/>
          </a:xfrm>
        </p:spPr>
        <p:txBody>
          <a:bodyPr>
            <a:normAutofit/>
            <a:scene3d>
              <a:camera prst="orthographicFront"/>
              <a:lightRig rig="soft" dir="t">
                <a:rot lat="0" lon="0" rev="10800000"/>
              </a:lightRig>
            </a:scene3d>
            <a:sp3d>
              <a:contourClr>
                <a:srgbClr val="DDDDDD"/>
              </a:contourClr>
            </a:sp3d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>
                    <a:alpha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4648200"/>
            <a:ext cx="6553200" cy="1219200"/>
          </a:xfrm>
        </p:spPr>
        <p:txBody>
          <a:bodyPr anchor="b" anchorCtr="0">
            <a:no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3/28/2008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8288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0" y="2514600"/>
              <a:ext cx="1828800" cy="18288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28800" y="2514600"/>
              <a:ext cx="7315200" cy="182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reflection blurRad="6350" stA="50000" endA="300" endPos="385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sz="1800" kern="1200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667000"/>
            <a:ext cx="6629400" cy="1143000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small" spc="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4495800"/>
            <a:ext cx="1524000" cy="20574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200000"/>
              </a:lnSpc>
              <a:buNone/>
              <a:defRPr sz="1600" b="1" kern="1200">
                <a:solidFill>
                  <a:srgbClr val="000000">
                    <a:alpha val="50196"/>
                  </a:srgb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5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31152" y="6556248"/>
            <a:ext cx="1673352" cy="228600"/>
          </a:xfrm>
        </p:spPr>
        <p:txBody>
          <a:bodyPr/>
          <a:lstStyle/>
          <a:p>
            <a:r>
              <a:rPr lang="en-US"/>
              <a:t>3/28/2008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92808" y="6556248"/>
            <a:ext cx="1673352" cy="228600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67656" y="6556248"/>
            <a:ext cx="762000" cy="228600"/>
          </a:xfrm>
          <a:noFill/>
          <a:ln>
            <a:noFill/>
          </a:ln>
          <a:effectLst/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900" kern="1200" cap="small" baseline="0">
                <a:solidFill>
                  <a:sysClr val="windowText" lastClr="000000"/>
                </a:solidFill>
                <a:latin typeface="+mj-lt"/>
                <a:ea typeface="+mn-ea"/>
                <a:cs typeface="+mn-cs"/>
              </a:defRPr>
            </a:lvl1pPr>
          </a:lstStyle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28600"/>
            <a:ext cx="6248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38400" y="2298700"/>
            <a:ext cx="2971800" cy="3827463"/>
          </a:xfrm>
        </p:spPr>
        <p:txBody>
          <a:bodyPr>
            <a:normAutofit/>
          </a:bodyPr>
          <a:lstStyle>
            <a:lvl1pPr marL="228600" indent="-228600">
              <a:defRPr sz="1800"/>
            </a:lvl1pPr>
            <a:lvl2pPr marL="457200" indent="-228600">
              <a:defRPr sz="1800"/>
            </a:lvl2pPr>
            <a:lvl3pPr marL="685800" indent="-228600">
              <a:defRPr sz="1800"/>
            </a:lvl3pPr>
            <a:lvl4pPr marL="914400" indent="-228600">
              <a:defRPr sz="1800"/>
            </a:lvl4pPr>
            <a:lvl5pPr marL="1143000" indent="-228600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0" y="2298700"/>
            <a:ext cx="2971800" cy="3827463"/>
          </a:xfrm>
        </p:spPr>
        <p:txBody>
          <a:bodyPr>
            <a:normAutofit/>
          </a:bodyPr>
          <a:lstStyle>
            <a:lvl1pPr marL="228600" indent="-228600">
              <a:defRPr sz="1800"/>
            </a:lvl1pPr>
            <a:lvl2pPr marL="457200" indent="-228600">
              <a:defRPr sz="1800"/>
            </a:lvl2pPr>
            <a:lvl3pPr marL="685800" indent="-228600">
              <a:defRPr sz="1800"/>
            </a:lvl3pPr>
            <a:lvl4pPr marL="914400" indent="-228600">
              <a:defRPr sz="1800"/>
            </a:lvl4pPr>
            <a:lvl5pPr marL="1143000" indent="-228600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3/28/2008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28600"/>
            <a:ext cx="6248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8400" y="2291697"/>
            <a:ext cx="2971800" cy="639762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sz="22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47925" y="3137647"/>
            <a:ext cx="2971800" cy="2999232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buSzPct val="80000"/>
              <a:buFont typeface="Wingdings" pitchFamily="2" charset="2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buSzPct val="80000"/>
              <a:buFont typeface="Wingdings" pitchFamily="2" charset="2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buSzPct val="80000"/>
              <a:buFont typeface="Wingdings" pitchFamily="2" charset="2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buSzPct val="80000"/>
              <a:buFont typeface="Wingdings" pitchFamily="2" charset="2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buSzPct val="80000"/>
              <a:buFont typeface="Wingdings" pitchFamily="2" charset="2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15000" y="2291697"/>
            <a:ext cx="2971800" cy="63976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2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15000" y="3137647"/>
            <a:ext cx="2971800" cy="3001962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buSzPct val="80000"/>
              <a:buFont typeface="Wingdings" pitchFamily="2" charset="2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buSzPct val="80000"/>
              <a:buFont typeface="Wingdings" pitchFamily="2" charset="2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buSzPct val="80000"/>
              <a:buFont typeface="Wingdings" pitchFamily="2" charset="2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buSzPct val="80000"/>
              <a:buFont typeface="Wingdings" pitchFamily="2" charset="2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buSzPct val="80000"/>
              <a:buFont typeface="Wingdings" pitchFamily="2" charset="2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3/28/2008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0"/>
          <p:cNvGrpSpPr/>
          <p:nvPr/>
        </p:nvGrpSpPr>
        <p:grpSpPr>
          <a:xfrm>
            <a:off x="0" y="0"/>
            <a:ext cx="9144000" cy="1676400"/>
            <a:chOff x="0" y="0"/>
            <a:chExt cx="9144000" cy="16764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9144000" cy="1676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reflection blurRad="6350" stA="50000" endA="300" endPos="385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sz="1800" kern="1200">
                <a:solidFill>
                  <a:schemeClr val="l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0"/>
              <a:ext cx="1828800" cy="1676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Oval 9"/>
            <p:cNvSpPr/>
            <p:nvPr/>
          </p:nvSpPr>
          <p:spPr>
            <a:xfrm>
              <a:off x="495300" y="419100"/>
              <a:ext cx="838200" cy="8382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3/28/2008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"/>
          <p:cNvGrpSpPr/>
          <p:nvPr/>
        </p:nvGrpSpPr>
        <p:grpSpPr>
          <a:xfrm>
            <a:off x="0" y="0"/>
            <a:ext cx="1828800" cy="1676400"/>
            <a:chOff x="457200" y="457200"/>
            <a:chExt cx="1828800" cy="1676400"/>
          </a:xfrm>
        </p:grpSpPr>
        <p:sp>
          <p:nvSpPr>
            <p:cNvPr id="8" name="Rectangle 7"/>
            <p:cNvSpPr/>
            <p:nvPr/>
          </p:nvSpPr>
          <p:spPr>
            <a:xfrm>
              <a:off x="457200" y="457200"/>
              <a:ext cx="1828800" cy="1676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reflection blurRad="6350" stA="50000" endA="300" endPos="385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Oval 8"/>
            <p:cNvSpPr/>
            <p:nvPr/>
          </p:nvSpPr>
          <p:spPr>
            <a:xfrm>
              <a:off x="952500" y="876300"/>
              <a:ext cx="838200" cy="8382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3/28/2008</a:t>
            </a:r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1448" y="228600"/>
            <a:ext cx="6245352" cy="1143000"/>
          </a:xfr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 cap="small" spc="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6624" y="2446991"/>
            <a:ext cx="5715000" cy="3531198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3031490"/>
            <a:ext cx="1524000" cy="23622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400" b="1">
                <a:solidFill>
                  <a:srgbClr val="000000">
                    <a:alpha val="50196"/>
                  </a:srgb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3/28/2008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1448" y="228600"/>
            <a:ext cx="6245352" cy="1143000"/>
          </a:xfr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 cap="small" spc="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06624" y="2450592"/>
            <a:ext cx="5715000" cy="3529584"/>
          </a:xfrm>
          <a:noFill/>
          <a:ln w="101600" cmpd="sng">
            <a:miter lim="800000"/>
          </a:ln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3031489"/>
            <a:ext cx="1527048" cy="23591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50000"/>
              </a:lnSpc>
              <a:buNone/>
              <a:defRPr sz="1400" b="1" kern="1200">
                <a:solidFill>
                  <a:srgbClr val="000000">
                    <a:alpha val="50196"/>
                  </a:srgb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lnSpc>
                <a:spcPct val="15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3/28/2008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3/28/2008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/>
          <p:nvPr/>
        </p:nvGrpSpPr>
        <p:grpSpPr>
          <a:xfrm>
            <a:off x="0" y="0"/>
            <a:ext cx="9144000" cy="6858000"/>
            <a:chOff x="-442912" y="457200"/>
            <a:chExt cx="9144000" cy="6858000"/>
          </a:xfrm>
        </p:grpSpPr>
        <p:sp>
          <p:nvSpPr>
            <p:cNvPr id="18" name="Rectangle 17"/>
            <p:cNvSpPr/>
            <p:nvPr/>
          </p:nvSpPr>
          <p:spPr>
            <a:xfrm>
              <a:off x="-442912" y="457200"/>
              <a:ext cx="9129712" cy="1676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reflection blurRad="6350" stA="50000" endA="300" endPos="385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72288" y="457200"/>
              <a:ext cx="18288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872288" y="457200"/>
              <a:ext cx="1828800" cy="1676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Oval 20"/>
            <p:cNvSpPr/>
            <p:nvPr/>
          </p:nvSpPr>
          <p:spPr>
            <a:xfrm>
              <a:off x="7367588" y="876300"/>
              <a:ext cx="838200" cy="8382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7600" y="2298700"/>
            <a:ext cx="1447800" cy="38274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0"/>
            <a:ext cx="5943600" cy="3840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3/28/2008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48600" y="533400"/>
            <a:ext cx="762000" cy="609600"/>
          </a:xfrm>
        </p:spPr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1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7" name="Rectangle 6"/>
            <p:cNvSpPr/>
            <p:nvPr/>
          </p:nvSpPr>
          <p:spPr>
            <a:xfrm>
              <a:off x="457200" y="0"/>
              <a:ext cx="8686800" cy="1676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reflection blurRad="6350" stA="50000" endA="300" endPos="385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0" y="0"/>
              <a:ext cx="18288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0"/>
              <a:ext cx="1828800" cy="1676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Oval 10"/>
            <p:cNvSpPr/>
            <p:nvPr/>
          </p:nvSpPr>
          <p:spPr>
            <a:xfrm>
              <a:off x="495300" y="419100"/>
              <a:ext cx="838200" cy="838200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8400" y="2286000"/>
            <a:ext cx="6248400" cy="3840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38400" y="228600"/>
            <a:ext cx="624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149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sm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3/28/2008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384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small" baseline="0">
                <a:solidFill>
                  <a:schemeClr val="tx1"/>
                </a:solidFill>
                <a:latin typeface="+mj-lt"/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400" y="533400"/>
            <a:ext cx="7620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cap="small" baseline="0">
                <a:solidFill>
                  <a:schemeClr val="tx1"/>
                </a:solidFill>
                <a:latin typeface="+mj-lt"/>
              </a:defRPr>
            </a:lvl1pPr>
          </a:lstStyle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r" defTabSz="914400" rtl="0" eaLnBrk="1" latinLnBrk="0" hangingPunct="1">
        <a:spcBef>
          <a:spcPct val="0"/>
        </a:spcBef>
        <a:buNone/>
        <a:defRPr sz="4400" kern="1200" cap="small" spc="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spcBef>
          <a:spcPts val="1800"/>
        </a:spcBef>
        <a:buClr>
          <a:schemeClr val="accent1"/>
        </a:buClr>
        <a:buSzPct val="80000"/>
        <a:buFont typeface="Wingdings" pitchFamily="2" charset="2"/>
        <a:buChar char="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1800"/>
        </a:spcBef>
        <a:buClr>
          <a:schemeClr val="accent2"/>
        </a:buClr>
        <a:buSzPct val="80000"/>
        <a:buFont typeface="Wingdings" pitchFamily="2" charset="2"/>
        <a:buChar char="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914400" rtl="0" eaLnBrk="1" latinLnBrk="0" hangingPunct="1">
        <a:spcBef>
          <a:spcPts val="1200"/>
        </a:spcBef>
        <a:buClr>
          <a:schemeClr val="accent3"/>
        </a:buClr>
        <a:buSzPct val="80000"/>
        <a:buFont typeface="Wingdings" pitchFamily="2" charset="2"/>
        <a:buChar char="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914400" rtl="0" eaLnBrk="1" latinLnBrk="0" hangingPunct="1">
        <a:spcBef>
          <a:spcPts val="1200"/>
        </a:spcBef>
        <a:buClr>
          <a:schemeClr val="accent4"/>
        </a:buClr>
        <a:buSzPct val="80000"/>
        <a:buFont typeface="Wingdings" pitchFamily="2" charset="2"/>
        <a:buChar char="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914400" rtl="0" eaLnBrk="1" latinLnBrk="0" hangingPunct="1">
        <a:spcBef>
          <a:spcPts val="1200"/>
        </a:spcBef>
        <a:buClr>
          <a:schemeClr val="accent5"/>
        </a:buClr>
        <a:buSzPct val="80000"/>
        <a:buFont typeface="Wingdings" pitchFamily="2" charset="2"/>
        <a:buChar char="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indent="-457200" algn="l" defTabSz="914400" rtl="0" eaLnBrk="1" latinLnBrk="0" hangingPunct="1">
        <a:spcBef>
          <a:spcPts val="1200"/>
        </a:spcBef>
        <a:buClr>
          <a:schemeClr val="accent6"/>
        </a:buClr>
        <a:buSzPct val="90000"/>
        <a:buFont typeface="Wingdings" pitchFamily="2" charset="2"/>
        <a:buChar char="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400" indent="-457200" algn="l" defTabSz="914400" rtl="0" eaLnBrk="1" latinLnBrk="0" hangingPunct="1">
        <a:spcBef>
          <a:spcPts val="1200"/>
        </a:spcBef>
        <a:buClr>
          <a:schemeClr val="accent1"/>
        </a:buClr>
        <a:buSzPct val="70000"/>
        <a:buFont typeface="Wingdings" pitchFamily="2" charset="2"/>
        <a:buChar char="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57200" algn="l" defTabSz="914400" rtl="0" eaLnBrk="1" latinLnBrk="0" hangingPunct="1">
        <a:spcBef>
          <a:spcPts val="1200"/>
        </a:spcBef>
        <a:buClr>
          <a:schemeClr val="accent3"/>
        </a:buClr>
        <a:buFont typeface="Courier New" pitchFamily="49" charset="0"/>
        <a:buChar char="o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114800" indent="-457200" algn="l" defTabSz="914400" rtl="0" eaLnBrk="1" latinLnBrk="0" hangingPunct="1">
        <a:spcBef>
          <a:spcPts val="12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0.png"/><Relationship Id="rId4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emf"/><Relationship Id="rId11" Type="http://schemas.openxmlformats.org/officeDocument/2006/relationships/image" Target="../media/image43.emf"/><Relationship Id="rId5" Type="http://schemas.openxmlformats.org/officeDocument/2006/relationships/image" Target="../media/image37.emf"/><Relationship Id="rId10" Type="http://schemas.openxmlformats.org/officeDocument/2006/relationships/image" Target="../media/image42.emf"/><Relationship Id="rId4" Type="http://schemas.openxmlformats.org/officeDocument/2006/relationships/image" Target="../media/image36.emf"/><Relationship Id="rId9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52.png"/><Relationship Id="rId9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5.png"/><Relationship Id="rId5" Type="http://schemas.openxmlformats.org/officeDocument/2006/relationships/image" Target="../media/image64.emf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547664" y="3036746"/>
            <a:ext cx="7727222" cy="1161260"/>
          </a:xfrm>
          <a:prstGeom prst="rect">
            <a:avLst/>
          </a:prstGeom>
        </p:spPr>
        <p:txBody>
          <a:bodyPr/>
          <a:lstStyle/>
          <a:p>
            <a:pPr marL="457200" lvl="0" indent="-457200" algn="ctr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</a:pPr>
            <a:r>
              <a:rPr lang="fr-FR" sz="3200" b="1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Data Science et Machine Learning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2195736" y="4869160"/>
            <a:ext cx="6264696" cy="15696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fr-FR" sz="3200" dirty="0">
                <a:solidFill>
                  <a:srgbClr val="00B050"/>
                </a:solidFill>
              </a:rPr>
              <a:t>Le modèle de la régression linéaire avec les tests statistiques correspondants</a:t>
            </a: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07504" y="5085184"/>
            <a:ext cx="1568184" cy="2862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57200" indent="-457200" algn="ctr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</a:pPr>
            <a:r>
              <a:rPr lang="fr-FR" sz="1400" b="1" dirty="0">
                <a:solidFill>
                  <a:srgbClr val="C36345"/>
                </a:solidFill>
                <a:latin typeface="Tahoma" pitchFamily="34" charset="0"/>
                <a:cs typeface="Tahoma" pitchFamily="34" charset="0"/>
              </a:rPr>
              <a:t>1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861629F-038F-441D-BB38-7B9035F0F3B5}"/>
              </a:ext>
            </a:extLst>
          </p:cNvPr>
          <p:cNvSpPr txBox="1">
            <a:spLocks noChangeArrowheads="1"/>
          </p:cNvSpPr>
          <p:nvPr/>
        </p:nvSpPr>
        <p:spPr>
          <a:xfrm>
            <a:off x="1779638" y="1192752"/>
            <a:ext cx="7263274" cy="612844"/>
          </a:xfrm>
          <a:prstGeom prst="rect">
            <a:avLst/>
          </a:prstGeom>
        </p:spPr>
        <p:txBody>
          <a:bodyPr/>
          <a:lstStyle/>
          <a:p>
            <a:pPr marL="457200" lvl="0" indent="-457200" algn="ctr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</a:pPr>
            <a:r>
              <a:rPr lang="fr-FR" sz="2800" b="1" dirty="0">
                <a:solidFill>
                  <a:srgbClr val="00B050"/>
                </a:solidFill>
                <a:latin typeface="Tahoma" pitchFamily="34" charset="0"/>
                <a:cs typeface="Tahoma" pitchFamily="34" charset="0"/>
              </a:rPr>
              <a:t>Prof. Mohamed Aly LOULY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144016"/>
            <a:ext cx="7380312" cy="1556792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Régression Linéaire Simple</a:t>
            </a:r>
            <a:endParaRPr lang="fr-FR" sz="39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79512" y="2700522"/>
            <a:ext cx="85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rgbClr val="FF0000"/>
                </a:solidFill>
              </a:rPr>
              <a:t>Objectif</a:t>
            </a:r>
            <a:r>
              <a:rPr lang="fr-FR" sz="2400" dirty="0">
                <a:solidFill>
                  <a:srgbClr val="00B050"/>
                </a:solidFill>
              </a:rPr>
              <a:t> : expliquer une variable quantitative dépendante </a:t>
            </a:r>
            <a:r>
              <a:rPr lang="fr-FR" sz="2400" dirty="0">
                <a:solidFill>
                  <a:srgbClr val="FF0000"/>
                </a:solidFill>
              </a:rPr>
              <a:t>Y</a:t>
            </a:r>
            <a:r>
              <a:rPr lang="fr-FR" sz="2400" dirty="0">
                <a:solidFill>
                  <a:srgbClr val="00B050"/>
                </a:solidFill>
              </a:rPr>
              <a:t> par une variable quantitative indépendante </a:t>
            </a:r>
            <a:r>
              <a:rPr lang="fr-FR" sz="2400" dirty="0">
                <a:solidFill>
                  <a:srgbClr val="FF0000"/>
                </a:solidFill>
              </a:rPr>
              <a:t>X</a:t>
            </a:r>
            <a:r>
              <a:rPr lang="fr-FR" sz="2400" dirty="0">
                <a:solidFill>
                  <a:srgbClr val="00B050"/>
                </a:solidFill>
              </a:rPr>
              <a:t>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38493C9-DAC4-41AE-955E-404EFF7A70A0}"/>
              </a:ext>
            </a:extLst>
          </p:cNvPr>
          <p:cNvSpPr txBox="1"/>
          <p:nvPr/>
        </p:nvSpPr>
        <p:spPr>
          <a:xfrm>
            <a:off x="179512" y="4365104"/>
            <a:ext cx="84249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solidFill>
                  <a:srgbClr val="FF0000"/>
                </a:solidFill>
              </a:rPr>
              <a:t>Exemple</a:t>
            </a:r>
            <a:r>
              <a:rPr lang="fr-FR" sz="2400" dirty="0">
                <a:solidFill>
                  <a:srgbClr val="00B050"/>
                </a:solidFill>
              </a:rPr>
              <a:t> : expliquer le coût de production mensuel par les quantités fabriquées d’un produit.</a:t>
            </a:r>
          </a:p>
        </p:txBody>
      </p:sp>
    </p:spTree>
    <p:extLst>
      <p:ext uri="{BB962C8B-B14F-4D97-AF65-F5344CB8AC3E}">
        <p14:creationId xmlns:p14="http://schemas.microsoft.com/office/powerpoint/2010/main" val="2202820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0319-67F5-70FB-01CE-071BF2DD2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Données de la Régression Linéaire Simple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840B9F-E7ED-846B-1F44-97E0C085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14572C-B383-FB60-4B9F-7FD295B4D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4" y="2060848"/>
            <a:ext cx="1323609" cy="33497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80D5DD-2FD6-E467-0E97-1107A4078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693" y="2060848"/>
            <a:ext cx="5573033" cy="3349749"/>
          </a:xfrm>
          <a:prstGeom prst="rect">
            <a:avLst/>
          </a:prstGeom>
        </p:spPr>
      </p:pic>
      <p:sp>
        <p:nvSpPr>
          <p:cNvPr id="4" name="ZoneTexte 11">
            <a:extLst>
              <a:ext uri="{FF2B5EF4-FFF2-40B4-BE49-F238E27FC236}">
                <a16:creationId xmlns:a16="http://schemas.microsoft.com/office/drawing/2014/main" id="{60307E8A-7274-6361-FBF0-66834049281B}"/>
              </a:ext>
            </a:extLst>
          </p:cNvPr>
          <p:cNvSpPr txBox="1"/>
          <p:nvPr/>
        </p:nvSpPr>
        <p:spPr>
          <a:xfrm>
            <a:off x="533400" y="5589240"/>
            <a:ext cx="7934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solidFill>
                  <a:srgbClr val="00B050"/>
                </a:solidFill>
              </a:rPr>
              <a:t>Le coût </a:t>
            </a:r>
            <a:r>
              <a:rPr lang="fr-FR" sz="2400" dirty="0">
                <a:solidFill>
                  <a:srgbClr val="FF0000"/>
                </a:solidFill>
              </a:rPr>
              <a:t>Y </a:t>
            </a:r>
            <a:r>
              <a:rPr lang="fr-FR" sz="2400" dirty="0">
                <a:solidFill>
                  <a:srgbClr val="00B050"/>
                </a:solidFill>
              </a:rPr>
              <a:t>vu comme une fonction de la quantité fabriquée </a:t>
            </a:r>
            <a:r>
              <a:rPr lang="fr-FR" sz="2400" dirty="0">
                <a:solidFill>
                  <a:srgbClr val="FF0000"/>
                </a:solidFill>
              </a:rPr>
              <a:t>X</a:t>
            </a:r>
            <a:r>
              <a:rPr lang="fr-FR" sz="2400" dirty="0">
                <a:solidFill>
                  <a:srgbClr val="00B050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3">
                <a:extLst>
                  <a:ext uri="{FF2B5EF4-FFF2-40B4-BE49-F238E27FC236}">
                    <a16:creationId xmlns:a16="http://schemas.microsoft.com/office/drawing/2014/main" id="{713B5BC1-6E6E-C66E-BD20-F802C2C61B83}"/>
                  </a:ext>
                </a:extLst>
              </p:cNvPr>
              <p:cNvSpPr txBox="1"/>
              <p:nvPr/>
            </p:nvSpPr>
            <p:spPr>
              <a:xfrm>
                <a:off x="2863974" y="6136957"/>
                <a:ext cx="259228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fr-F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fr-F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3200" dirty="0"/>
              </a:p>
            </p:txBody>
          </p:sp>
        </mc:Choice>
        <mc:Fallback xmlns="">
          <p:sp>
            <p:nvSpPr>
              <p:cNvPr id="7" name="ZoneTexte 3">
                <a:extLst>
                  <a:ext uri="{FF2B5EF4-FFF2-40B4-BE49-F238E27FC236}">
                    <a16:creationId xmlns:a16="http://schemas.microsoft.com/office/drawing/2014/main" id="{713B5BC1-6E6E-C66E-BD20-F802C2C61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974" y="6136957"/>
                <a:ext cx="2592289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8206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398" y="144016"/>
            <a:ext cx="7159601" cy="1556792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Le modèle théorique de la régression linéaire simple</a:t>
            </a:r>
            <a:endParaRPr lang="fr-FR" sz="39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87524" y="2852936"/>
            <a:ext cx="85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rgbClr val="00B050"/>
                </a:solidFill>
              </a:rPr>
              <a:t>Nous cherchons les paramètres </a:t>
            </a:r>
            <a:r>
              <a:rPr lang="fr-FR" sz="2400" dirty="0">
                <a:solidFill>
                  <a:srgbClr val="FF0000"/>
                </a:solidFill>
              </a:rPr>
              <a:t>a</a:t>
            </a:r>
            <a:r>
              <a:rPr lang="fr-FR" sz="2400" dirty="0">
                <a:solidFill>
                  <a:srgbClr val="00B050"/>
                </a:solidFill>
              </a:rPr>
              <a:t> et </a:t>
            </a:r>
            <a:r>
              <a:rPr lang="fr-FR" sz="2400" dirty="0">
                <a:solidFill>
                  <a:srgbClr val="FF0000"/>
                </a:solidFill>
              </a:rPr>
              <a:t>b</a:t>
            </a:r>
            <a:r>
              <a:rPr lang="fr-FR" sz="2400" dirty="0">
                <a:solidFill>
                  <a:srgbClr val="00B050"/>
                </a:solidFill>
              </a:rPr>
              <a:t> qui permettent d’écrire </a:t>
            </a:r>
            <a:r>
              <a:rPr lang="fr-FR" sz="2400" dirty="0">
                <a:solidFill>
                  <a:srgbClr val="FF0000"/>
                </a:solidFill>
              </a:rPr>
              <a:t>Y</a:t>
            </a:r>
            <a:r>
              <a:rPr lang="fr-FR" sz="2400" dirty="0">
                <a:solidFill>
                  <a:srgbClr val="00B050"/>
                </a:solidFill>
              </a:rPr>
              <a:t> en fonction de </a:t>
            </a:r>
            <a:r>
              <a:rPr lang="fr-FR" sz="2400" dirty="0">
                <a:solidFill>
                  <a:srgbClr val="FF0000"/>
                </a:solidFill>
              </a:rPr>
              <a:t>X</a:t>
            </a:r>
            <a:r>
              <a:rPr lang="fr-FR" sz="2400" dirty="0">
                <a:solidFill>
                  <a:srgbClr val="00B050"/>
                </a:solidFill>
              </a:rPr>
              <a:t> selon le modèle suivant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32221783-CB1C-4A68-AEEF-248453F69A15}"/>
                  </a:ext>
                </a:extLst>
              </p:cNvPr>
              <p:cNvSpPr txBox="1"/>
              <p:nvPr/>
            </p:nvSpPr>
            <p:spPr>
              <a:xfrm>
                <a:off x="755576" y="4589839"/>
                <a:ext cx="7920879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3200" dirty="0">
                    <a:solidFill>
                      <a:srgbClr val="FF0000"/>
                    </a:solidFill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fr-FR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fr-FR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fr-F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32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fr-F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fr-FR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fr-FR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3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nor/>
                      </m:rPr>
                      <a:rPr lang="fr-FR" sz="3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fr-FR" sz="3200" dirty="0" smtClean="0">
                        <a:solidFill>
                          <a:srgbClr val="00B050"/>
                        </a:solidFill>
                      </a:rPr>
                      <m:t>i</m:t>
                    </m:r>
                    <m:r>
                      <m:rPr>
                        <m:nor/>
                      </m:rPr>
                      <a:rPr lang="fr-FR" sz="3200" dirty="0" smtClean="0">
                        <a:solidFill>
                          <a:srgbClr val="00B050"/>
                        </a:solidFill>
                      </a:rPr>
                      <m:t>=1,…,</m:t>
                    </m:r>
                    <m:r>
                      <m:rPr>
                        <m:nor/>
                      </m:rPr>
                      <a:rPr lang="fr-FR" sz="3200" b="0" i="0" dirty="0" smtClean="0">
                        <a:solidFill>
                          <a:srgbClr val="00B050"/>
                        </a:solidFill>
                      </a:rPr>
                      <m:t>n</m:t>
                    </m:r>
                    <m:r>
                      <m:rPr>
                        <m:nor/>
                      </m:rPr>
                      <a:rPr lang="fr-FR" sz="3200" b="0" i="0" dirty="0" smtClean="0">
                        <a:solidFill>
                          <a:srgbClr val="00B050"/>
                        </a:solidFill>
                      </a:rPr>
                      <m:t>.</m:t>
                    </m:r>
                  </m:oMath>
                </a14:m>
                <a:endParaRPr lang="fr-FR" sz="3200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32221783-CB1C-4A68-AEEF-248453F69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589839"/>
                <a:ext cx="792087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801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88A30-DDFE-736A-FBAC-65739B5C9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9888" y="228600"/>
            <a:ext cx="7304112" cy="1400200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Droite de la </a:t>
            </a:r>
            <a:br>
              <a:rPr lang="fr-FR" sz="3600" dirty="0"/>
            </a:br>
            <a:r>
              <a:rPr lang="fr-FR" sz="3600" dirty="0"/>
              <a:t>Régression Linéaire Simple</a:t>
            </a:r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B1043D-C68C-5A89-D8BC-EC945F7FA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BE6200-C22E-DB77-26EA-003E21DF0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406" y="2276872"/>
            <a:ext cx="6846912" cy="411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417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723BDF-3199-4BF2-AED8-1740CB0EE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696" y="228600"/>
            <a:ext cx="7266656" cy="132819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Principe de la méthode des moindres carrées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47FFDFF-16B3-4BE4-A16D-1B6B1CA0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fr-FR" smtClean="0"/>
              <a:pPr/>
              <a:t>6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4FE5A84B-4CD7-401D-B453-0035D4F794F6}"/>
                  </a:ext>
                </a:extLst>
              </p:cNvPr>
              <p:cNvSpPr txBox="1"/>
              <p:nvPr/>
            </p:nvSpPr>
            <p:spPr>
              <a:xfrm>
                <a:off x="330507" y="3272310"/>
                <a:ext cx="8359809" cy="1008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</m:fName>
                        <m:e>
                          <m:nary>
                            <m:naryPr>
                              <m:chr m:val="∑"/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(</m:t>
                                  </m:r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fr-FR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fr-FR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(</m:t>
                                  </m:r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4FE5A84B-4CD7-401D-B453-0035D4F79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07" y="3272310"/>
                <a:ext cx="8359809" cy="1008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7">
            <a:extLst>
              <a:ext uri="{FF2B5EF4-FFF2-40B4-BE49-F238E27FC236}">
                <a16:creationId xmlns:a16="http://schemas.microsoft.com/office/drawing/2014/main" id="{7991A69A-E626-4E43-A46C-2BCC450880F5}"/>
              </a:ext>
            </a:extLst>
          </p:cNvPr>
          <p:cNvSpPr txBox="1"/>
          <p:nvPr/>
        </p:nvSpPr>
        <p:spPr>
          <a:xfrm>
            <a:off x="287524" y="2204864"/>
            <a:ext cx="85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rgbClr val="00B050"/>
                </a:solidFill>
              </a:rPr>
              <a:t>Les paramètres du modèles sont fixés de manière à minimiser la sommes des carrés résiduels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1C1FF64C-1C13-4D84-94A2-468C06B2763C}"/>
                  </a:ext>
                </a:extLst>
              </p:cNvPr>
              <p:cNvSpPr txBox="1"/>
              <p:nvPr/>
            </p:nvSpPr>
            <p:spPr>
              <a:xfrm>
                <a:off x="330507" y="4695527"/>
                <a:ext cx="87718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fr-FR" sz="2400" dirty="0">
                    <a:solidFill>
                      <a:srgbClr val="00B050"/>
                    </a:solidFill>
                  </a:rPr>
                  <a:t>En supposant </a:t>
                </a:r>
                <a14:m>
                  <m:oMath xmlns:m="http://schemas.openxmlformats.org/officeDocument/2006/math">
                    <m:r>
                      <a:rPr lang="fr-FR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fr-FR" sz="2400" dirty="0"/>
                  <a:t> </a:t>
                </a:r>
                <a:r>
                  <a:rPr lang="fr-FR" sz="2400" dirty="0">
                    <a:solidFill>
                      <a:srgbClr val="00B050"/>
                    </a:solidFill>
                  </a:rPr>
                  <a:t>de variance non nulle, on obtient :</a:t>
                </a:r>
              </a:p>
            </p:txBody>
          </p:sp>
        </mc:Choice>
        <mc:Fallback xmlns=""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1C1FF64C-1C13-4D84-94A2-468C06B27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07" y="4695527"/>
                <a:ext cx="8771845" cy="461665"/>
              </a:xfrm>
              <a:prstGeom prst="rect">
                <a:avLst/>
              </a:prstGeom>
              <a:blipFill>
                <a:blip r:embed="rId3"/>
                <a:stretch>
                  <a:fillRect l="-104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E84ACF-D90D-A75F-D090-DC85A7F87BA1}"/>
                  </a:ext>
                </a:extLst>
              </p:cNvPr>
              <p:cNvSpPr txBox="1"/>
              <p:nvPr/>
            </p:nvSpPr>
            <p:spPr>
              <a:xfrm>
                <a:off x="543015" y="5478962"/>
                <a:ext cx="8061433" cy="6863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fr-FR" sz="28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𝐶𝑜𝑣</m:t>
                        </m:r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fr-FR" sz="28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800" dirty="0">
                    <a:solidFill>
                      <a:srgbClr val="FF0000"/>
                    </a:solidFill>
                  </a:rPr>
                  <a:t> 17,4      </a:t>
                </a:r>
                <a:r>
                  <a:rPr lang="fr-FR" sz="2800" dirty="0">
                    <a:solidFill>
                      <a:srgbClr val="00B050"/>
                    </a:solidFill>
                  </a:rPr>
                  <a:t>;    </a:t>
                </a:r>
                <a:r>
                  <a:rPr lang="fr-FR" sz="2800" dirty="0">
                    <a:solidFill>
                      <a:srgbClr val="FF0000"/>
                    </a:solidFill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fr-FR" sz="28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fr-FR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acc>
                      <m:accPr>
                        <m:chr m:val="̅"/>
                        <m:ctrlP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fr-FR" sz="28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1275,4</m:t>
                    </m:r>
                  </m:oMath>
                </a14:m>
                <a:endParaRPr lang="en-US" sz="28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E84ACF-D90D-A75F-D090-DC85A7F87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15" y="5478962"/>
                <a:ext cx="8061433" cy="686342"/>
              </a:xfrm>
              <a:prstGeom prst="rect">
                <a:avLst/>
              </a:prstGeom>
              <a:blipFill>
                <a:blip r:embed="rId4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6926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88A30-DDFE-736A-FBAC-65739B5C9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696" y="228600"/>
            <a:ext cx="7308304" cy="140020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Droite des Moindres carrées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B1043D-C68C-5A89-D8BC-EC945F7FA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C32000-CFA7-96E5-C741-C36B7FAB5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276872"/>
            <a:ext cx="7041976" cy="423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45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96E154-7ACC-48AE-8C34-3ABC5D96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228600"/>
            <a:ext cx="6779096" cy="1143000"/>
          </a:xfrm>
        </p:spPr>
        <p:txBody>
          <a:bodyPr>
            <a:normAutofit fontScale="90000"/>
          </a:bodyPr>
          <a:lstStyle/>
          <a:p>
            <a:pPr algn="l"/>
            <a:r>
              <a:rPr lang="fr-FR" dirty="0"/>
              <a:t>L’équation fondamentale d’analyse de la variance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6F3017-E9AC-41E3-974C-447B3AFD1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fr-FR" smtClean="0"/>
              <a:pPr/>
              <a:t>8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6A2BCEDE-F826-4EC6-8130-2709E0937100}"/>
                  </a:ext>
                </a:extLst>
              </p:cNvPr>
              <p:cNvSpPr txBox="1"/>
              <p:nvPr/>
            </p:nvSpPr>
            <p:spPr>
              <a:xfrm>
                <a:off x="563285" y="3501008"/>
                <a:ext cx="1728192" cy="9866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fr-FR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fName>
                        <m:e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6A2BCEDE-F826-4EC6-8130-2709E0937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85" y="3501008"/>
                <a:ext cx="1728192" cy="986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8AC4DEBE-EF7D-4828-94EE-D3D7BD187902}"/>
                  </a:ext>
                </a:extLst>
              </p:cNvPr>
              <p:cNvSpPr txBox="1"/>
              <p:nvPr/>
            </p:nvSpPr>
            <p:spPr>
              <a:xfrm>
                <a:off x="3059832" y="3501008"/>
                <a:ext cx="1728192" cy="9866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fr-FR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fr-FR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fr-FR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fName>
                        <m:e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8AC4DEBE-EF7D-4828-94EE-D3D7BD187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501008"/>
                <a:ext cx="1728192" cy="986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4CC9ED3E-EF11-4768-AF9A-064664F1825B}"/>
                  </a:ext>
                </a:extLst>
              </p:cNvPr>
              <p:cNvSpPr txBox="1"/>
              <p:nvPr/>
            </p:nvSpPr>
            <p:spPr>
              <a:xfrm>
                <a:off x="5724128" y="3516163"/>
                <a:ext cx="1728192" cy="9866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fr-FR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fr-FR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fName>
                        <m:e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4CC9ED3E-EF11-4768-AF9A-064664F18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8" y="3516163"/>
                <a:ext cx="1728192" cy="986680"/>
              </a:xfrm>
              <a:prstGeom prst="rect">
                <a:avLst/>
              </a:prstGeom>
              <a:blipFill>
                <a:blip r:embed="rId4"/>
                <a:stretch>
                  <a:fillRect r="-1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7">
            <a:extLst>
              <a:ext uri="{FF2B5EF4-FFF2-40B4-BE49-F238E27FC236}">
                <a16:creationId xmlns:a16="http://schemas.microsoft.com/office/drawing/2014/main" id="{DC92C911-5839-4707-97C7-E3D550703EA6}"/>
              </a:ext>
            </a:extLst>
          </p:cNvPr>
          <p:cNvSpPr txBox="1"/>
          <p:nvPr/>
        </p:nvSpPr>
        <p:spPr>
          <a:xfrm>
            <a:off x="287524" y="5550331"/>
            <a:ext cx="85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rgbClr val="00B050"/>
                </a:solidFill>
              </a:rPr>
              <a:t>La variabilité totale (</a:t>
            </a:r>
            <a:r>
              <a:rPr lang="fr-FR" sz="2400" dirty="0">
                <a:solidFill>
                  <a:srgbClr val="FF0000"/>
                </a:solidFill>
              </a:rPr>
              <a:t>SCT</a:t>
            </a:r>
            <a:r>
              <a:rPr lang="fr-FR" sz="2400" dirty="0">
                <a:solidFill>
                  <a:srgbClr val="00B050"/>
                </a:solidFill>
              </a:rPr>
              <a:t>) est égale à la somme de la variabilité expliquée (</a:t>
            </a:r>
            <a:r>
              <a:rPr lang="fr-FR" sz="2400" dirty="0">
                <a:solidFill>
                  <a:srgbClr val="FF0000"/>
                </a:solidFill>
              </a:rPr>
              <a:t>SCE</a:t>
            </a:r>
            <a:r>
              <a:rPr lang="fr-FR" sz="2400" dirty="0">
                <a:solidFill>
                  <a:srgbClr val="00B050"/>
                </a:solidFill>
              </a:rPr>
              <a:t>) et la variabilité résiduelle (</a:t>
            </a:r>
            <a:r>
              <a:rPr lang="fr-FR" sz="2400" dirty="0">
                <a:solidFill>
                  <a:srgbClr val="FF0000"/>
                </a:solidFill>
              </a:rPr>
              <a:t>SCR</a:t>
            </a:r>
            <a:r>
              <a:rPr lang="fr-FR" sz="2400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5B30A6A6-02E9-4DDB-BABE-3E0B805EDFF7}"/>
              </a:ext>
            </a:extLst>
          </p:cNvPr>
          <p:cNvSpPr txBox="1"/>
          <p:nvPr/>
        </p:nvSpPr>
        <p:spPr>
          <a:xfrm>
            <a:off x="287524" y="2360171"/>
            <a:ext cx="85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rgbClr val="00B050"/>
                </a:solidFill>
              </a:rPr>
              <a:t>La Somme des Carrés Totaux (SCT) </a:t>
            </a:r>
            <a:r>
              <a:rPr lang="fr-FR" sz="2400" b="1" dirty="0">
                <a:solidFill>
                  <a:srgbClr val="FF0000"/>
                </a:solidFill>
              </a:rPr>
              <a:t>=</a:t>
            </a:r>
            <a:r>
              <a:rPr lang="fr-FR" sz="2400" dirty="0">
                <a:solidFill>
                  <a:srgbClr val="00B050"/>
                </a:solidFill>
              </a:rPr>
              <a:t> La Somme des Carrés Expliqués (SCE)  </a:t>
            </a:r>
            <a:r>
              <a:rPr lang="fr-FR" sz="2400" b="1" dirty="0">
                <a:solidFill>
                  <a:srgbClr val="FF0000"/>
                </a:solidFill>
              </a:rPr>
              <a:t>+ </a:t>
            </a:r>
            <a:r>
              <a:rPr lang="fr-FR" sz="2400" dirty="0">
                <a:solidFill>
                  <a:srgbClr val="00B050"/>
                </a:solidFill>
              </a:rPr>
              <a:t> La Somme des Carrés Résiduels (SCR)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206FEB4-0DAE-4EF1-934D-AD1D1CC6853C}"/>
              </a:ext>
            </a:extLst>
          </p:cNvPr>
          <p:cNvSpPr txBox="1"/>
          <p:nvPr/>
        </p:nvSpPr>
        <p:spPr>
          <a:xfrm>
            <a:off x="2411760" y="3702570"/>
            <a:ext cx="3432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b="1" dirty="0">
                <a:solidFill>
                  <a:srgbClr val="00B050"/>
                </a:solidFill>
              </a:rPr>
              <a:t>  =                                   +         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F92F92CA-BC06-1B4F-D5E8-CC71822B251C}"/>
              </a:ext>
            </a:extLst>
          </p:cNvPr>
          <p:cNvSpPr txBox="1"/>
          <p:nvPr/>
        </p:nvSpPr>
        <p:spPr>
          <a:xfrm>
            <a:off x="755576" y="4725144"/>
            <a:ext cx="7488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rgbClr val="FF0000"/>
                </a:solidFill>
              </a:rPr>
              <a:t>4 516 526	</a:t>
            </a:r>
            <a:r>
              <a:rPr lang="fr-FR" sz="2400" b="1" dirty="0">
                <a:solidFill>
                  <a:srgbClr val="00B050"/>
                </a:solidFill>
              </a:rPr>
              <a:t>= </a:t>
            </a:r>
            <a:r>
              <a:rPr lang="fr-FR" sz="2400" dirty="0">
                <a:solidFill>
                  <a:srgbClr val="FF0000"/>
                </a:solidFill>
              </a:rPr>
              <a:t>    2 931 158            </a:t>
            </a:r>
            <a:r>
              <a:rPr lang="fr-FR" sz="2400" b="1" dirty="0">
                <a:solidFill>
                  <a:srgbClr val="00B050"/>
                </a:solidFill>
              </a:rPr>
              <a:t>+</a:t>
            </a:r>
            <a:r>
              <a:rPr lang="fr-FR" sz="2400" dirty="0">
                <a:solidFill>
                  <a:srgbClr val="FF0000"/>
                </a:solidFill>
              </a:rPr>
              <a:t>        1 585 368</a:t>
            </a:r>
          </a:p>
        </p:txBody>
      </p:sp>
    </p:spTree>
    <p:extLst>
      <p:ext uri="{BB962C8B-B14F-4D97-AF65-F5344CB8AC3E}">
        <p14:creationId xmlns:p14="http://schemas.microsoft.com/office/powerpoint/2010/main" val="4217154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96E154-7ACC-48AE-8C34-3ABC5D96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188640"/>
            <a:ext cx="7236296" cy="1348796"/>
          </a:xfrm>
        </p:spPr>
        <p:txBody>
          <a:bodyPr>
            <a:normAutofit fontScale="90000"/>
          </a:bodyPr>
          <a:lstStyle/>
          <a:p>
            <a:pPr algn="l"/>
            <a:r>
              <a:rPr lang="fr-FR" dirty="0"/>
              <a:t>Premières mesures de pertinence du modèle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6F3017-E9AC-41E3-974C-447B3AFD1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5B30A6A6-02E9-4DDB-BABE-3E0B805EDFF7}"/>
              </a:ext>
            </a:extLst>
          </p:cNvPr>
          <p:cNvSpPr txBox="1"/>
          <p:nvPr/>
        </p:nvSpPr>
        <p:spPr>
          <a:xfrm>
            <a:off x="215516" y="2492896"/>
            <a:ext cx="4788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b="1" dirty="0">
                <a:solidFill>
                  <a:srgbClr val="00B050"/>
                </a:solidFill>
              </a:rPr>
              <a:t>Coefficient de corrélation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6E0DC3B-69AF-445C-BA33-27D78251C49A}"/>
                  </a:ext>
                </a:extLst>
              </p:cNvPr>
              <p:cNvSpPr txBox="1"/>
              <p:nvPr/>
            </p:nvSpPr>
            <p:spPr>
              <a:xfrm>
                <a:off x="323528" y="3226509"/>
                <a:ext cx="8173144" cy="893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l-G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  <m:r>
                        <a:rPr lang="fr-FR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𝑋𝑌</m:t>
                              </m:r>
                            </m:e>
                          </m:acc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l-G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  <m:r>
                        <a:rPr lang="fr-F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0,81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6E0DC3B-69AF-445C-BA33-27D78251C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226509"/>
                <a:ext cx="8173144" cy="8933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7">
            <a:extLst>
              <a:ext uri="{FF2B5EF4-FFF2-40B4-BE49-F238E27FC236}">
                <a16:creationId xmlns:a16="http://schemas.microsoft.com/office/drawing/2014/main" id="{ACB5B306-42BA-4AA3-B8CE-525FE931C679}"/>
              </a:ext>
            </a:extLst>
          </p:cNvPr>
          <p:cNvSpPr txBox="1"/>
          <p:nvPr/>
        </p:nvSpPr>
        <p:spPr>
          <a:xfrm>
            <a:off x="215516" y="4486209"/>
            <a:ext cx="4068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b="1" dirty="0">
                <a:solidFill>
                  <a:srgbClr val="00B050"/>
                </a:solidFill>
              </a:rPr>
              <a:t>Coefficient de détermination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8D088C-E348-B28E-2D2D-1739958BCC92}"/>
                  </a:ext>
                </a:extLst>
              </p:cNvPr>
              <p:cNvSpPr txBox="1"/>
              <p:nvPr/>
            </p:nvSpPr>
            <p:spPr>
              <a:xfrm>
                <a:off x="1835696" y="5242733"/>
                <a:ext cx="4585252" cy="619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r-FR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fr-FR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𝑆𝐶𝐸</m:t>
                        </m:r>
                      </m:num>
                      <m:den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𝑆𝐶𝑇</m:t>
                        </m:r>
                      </m:den>
                    </m:f>
                  </m:oMath>
                </a14:m>
                <a:r>
                  <a:rPr lang="fr-FR" sz="2400" dirty="0">
                    <a:solidFill>
                      <a:srgbClr val="FF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fr-FR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1−</m:t>
                    </m:r>
                    <m:f>
                      <m:f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𝑆𝐶</m:t>
                        </m:r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𝑆𝐶𝑇</m:t>
                        </m:r>
                      </m:den>
                    </m:f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FR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0,65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8D088C-E348-B28E-2D2D-1739958BC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5242733"/>
                <a:ext cx="4585252" cy="619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8411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96E154-7ACC-48AE-8C34-3ABC5D96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188640"/>
            <a:ext cx="7236296" cy="1348796"/>
          </a:xfrm>
        </p:spPr>
        <p:txBody>
          <a:bodyPr>
            <a:normAutofit fontScale="90000"/>
          </a:bodyPr>
          <a:lstStyle/>
          <a:p>
            <a:pPr algn="l"/>
            <a:r>
              <a:rPr lang="fr-FR" dirty="0"/>
              <a:t>Test de Fisher pour la pertinence du modèle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6F3017-E9AC-41E3-974C-447B3AFD1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ACB5B306-42BA-4AA3-B8CE-525FE931C679}"/>
              </a:ext>
            </a:extLst>
          </p:cNvPr>
          <p:cNvSpPr txBox="1"/>
          <p:nvPr/>
        </p:nvSpPr>
        <p:spPr>
          <a:xfrm>
            <a:off x="287524" y="3068960"/>
            <a:ext cx="7941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rgbClr val="00B050"/>
                </a:solidFill>
              </a:rPr>
              <a:t>Sous l’hypothèse </a:t>
            </a:r>
            <a:r>
              <a:rPr lang="fr-FR" sz="2400" dirty="0">
                <a:solidFill>
                  <a:srgbClr val="FF0000"/>
                </a:solidFill>
              </a:rPr>
              <a:t>H</a:t>
            </a:r>
            <a:r>
              <a:rPr lang="fr-FR" sz="2400" baseline="-25000" dirty="0">
                <a:solidFill>
                  <a:srgbClr val="FF0000"/>
                </a:solidFill>
              </a:rPr>
              <a:t>0</a:t>
            </a:r>
            <a:r>
              <a:rPr lang="fr-FR" sz="2400" dirty="0">
                <a:solidFill>
                  <a:srgbClr val="00B050"/>
                </a:solidFill>
              </a:rPr>
              <a:t> l’observation suivante est une réalisation de la loi de Fisher avec les degrés de liberté (</a:t>
            </a:r>
            <a:r>
              <a:rPr lang="fr-FR" sz="2400" dirty="0">
                <a:solidFill>
                  <a:srgbClr val="FF0000"/>
                </a:solidFill>
              </a:rPr>
              <a:t>1, n-2</a:t>
            </a:r>
            <a:r>
              <a:rPr lang="fr-FR" sz="2400" dirty="0">
                <a:solidFill>
                  <a:srgbClr val="00B050"/>
                </a:solidFill>
              </a:rPr>
              <a:t>)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6A01DAE3-0A8D-4846-ADB7-9F4CD17937CA}"/>
                  </a:ext>
                </a:extLst>
              </p:cNvPr>
              <p:cNvSpPr txBox="1"/>
              <p:nvPr/>
            </p:nvSpPr>
            <p:spPr>
              <a:xfrm>
                <a:off x="1691681" y="3933056"/>
                <a:ext cx="5616624" cy="716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r-FR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fr-FR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fr-FR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FR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fr-F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𝑉𝑅</m:t>
                        </m:r>
                      </m:den>
                    </m:f>
                  </m:oMath>
                </a14:m>
                <a:r>
                  <a:rPr lang="fr-FR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  </m:t>
                    </m:r>
                    <m:f>
                      <m:f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lin"/>
                            <m:ctrlPr>
                              <a:rPr lang="fr-FR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𝑆𝐶</m:t>
                            </m:r>
                            <m:r>
                              <a:rPr lang="fr-FR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fr-FR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num>
                      <m:den>
                        <m:f>
                          <m:fPr>
                            <m:type m:val="lin"/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𝑆𝐶</m:t>
                            </m:r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−2)</m:t>
                            </m:r>
                          </m:den>
                        </m:f>
                      </m:den>
                    </m:f>
                  </m:oMath>
                </a14:m>
                <a:r>
                  <a:rPr lang="fr-FR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fr-FR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f>
                          <m:fPr>
                            <m:type m:val="lin"/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fr-FR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fr-FR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−2)</m:t>
                            </m:r>
                          </m:den>
                        </m:f>
                      </m:den>
                    </m:f>
                  </m:oMath>
                </a14:m>
                <a:endParaRPr lang="fr-FR" sz="2400" dirty="0"/>
              </a:p>
            </p:txBody>
          </p:sp>
        </mc:Choice>
        <mc:Fallback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6A01DAE3-0A8D-4846-ADB7-9F4CD1793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1" y="3933056"/>
                <a:ext cx="5616624" cy="7160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42C113-57DF-4317-A7C1-8A9BD908FA8D}"/>
                  </a:ext>
                </a:extLst>
              </p:cNvPr>
              <p:cNvSpPr txBox="1"/>
              <p:nvPr/>
            </p:nvSpPr>
            <p:spPr>
              <a:xfrm>
                <a:off x="395536" y="4797152"/>
                <a:ext cx="794160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fr-FR" sz="2400" dirty="0">
                    <a:solidFill>
                      <a:srgbClr val="00B050"/>
                    </a:solidFill>
                  </a:rPr>
                  <a:t>Le modèle de la régression linéaire est jugé pertinent si l’observation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fr-FR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fr-FR" sz="2400" dirty="0">
                    <a:solidFill>
                      <a:srgbClr val="00B050"/>
                    </a:solidFill>
                  </a:rPr>
                  <a:t> dépasse un seuil critique :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42C113-57DF-4317-A7C1-8A9BD908F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797152"/>
                <a:ext cx="7941603" cy="830997"/>
              </a:xfrm>
              <a:prstGeom prst="rect">
                <a:avLst/>
              </a:prstGeom>
              <a:blipFill>
                <a:blip r:embed="rId3"/>
                <a:stretch>
                  <a:fillRect l="-1228" t="-5882" r="-1151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7">
            <a:extLst>
              <a:ext uri="{FF2B5EF4-FFF2-40B4-BE49-F238E27FC236}">
                <a16:creationId xmlns:a16="http://schemas.microsoft.com/office/drawing/2014/main" id="{7CB28380-35DC-9AEC-6EDE-1184C8440BA5}"/>
              </a:ext>
            </a:extLst>
          </p:cNvPr>
          <p:cNvSpPr txBox="1"/>
          <p:nvPr/>
        </p:nvSpPr>
        <p:spPr>
          <a:xfrm>
            <a:off x="317342" y="2204864"/>
            <a:ext cx="7567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rgbClr val="00B050"/>
                </a:solidFill>
              </a:rPr>
              <a:t>Hypothèse H</a:t>
            </a:r>
            <a:r>
              <a:rPr lang="fr-FR" sz="2400" baseline="-25000" dirty="0">
                <a:solidFill>
                  <a:srgbClr val="00B050"/>
                </a:solidFill>
              </a:rPr>
              <a:t>0</a:t>
            </a:r>
            <a:r>
              <a:rPr lang="fr-FR" sz="2400" dirty="0">
                <a:solidFill>
                  <a:srgbClr val="00B050"/>
                </a:solidFill>
              </a:rPr>
              <a:t> : </a:t>
            </a:r>
            <a:r>
              <a:rPr lang="fr-FR" sz="2400" dirty="0">
                <a:solidFill>
                  <a:srgbClr val="FF0000"/>
                </a:solidFill>
              </a:rPr>
              <a:t>X</a:t>
            </a:r>
            <a:r>
              <a:rPr lang="fr-FR" sz="2400" dirty="0">
                <a:solidFill>
                  <a:srgbClr val="00B050"/>
                </a:solidFill>
              </a:rPr>
              <a:t> ne peut pas expliquer </a:t>
            </a:r>
            <a:r>
              <a:rPr lang="fr-FR" sz="2400" dirty="0">
                <a:solidFill>
                  <a:srgbClr val="FF0000"/>
                </a:solidFill>
              </a:rPr>
              <a:t>Y</a:t>
            </a:r>
            <a:r>
              <a:rPr lang="fr-FR" sz="2400" dirty="0">
                <a:solidFill>
                  <a:srgbClr val="00B050"/>
                </a:solidFill>
              </a:rPr>
              <a:t> : (</a:t>
            </a:r>
            <a:r>
              <a:rPr lang="fr-FR" sz="2400" dirty="0">
                <a:solidFill>
                  <a:srgbClr val="FF0000"/>
                </a:solidFill>
              </a:rPr>
              <a:t>a=0</a:t>
            </a:r>
            <a:r>
              <a:rPr lang="fr-FR" sz="2400" dirty="0">
                <a:solidFill>
                  <a:srgbClr val="00B050"/>
                </a:solidFill>
              </a:rPr>
              <a:t>)</a:t>
            </a:r>
          </a:p>
          <a:p>
            <a:pPr algn="just"/>
            <a:r>
              <a:rPr lang="fr-FR" sz="2400" dirty="0">
                <a:solidFill>
                  <a:srgbClr val="00B050"/>
                </a:solidFill>
              </a:rPr>
              <a:t>Hypothèse H</a:t>
            </a:r>
            <a:r>
              <a:rPr lang="fr-FR" sz="2400" baseline="-25000" dirty="0">
                <a:solidFill>
                  <a:srgbClr val="00B050"/>
                </a:solidFill>
              </a:rPr>
              <a:t>1</a:t>
            </a:r>
            <a:r>
              <a:rPr lang="fr-FR" sz="2400" dirty="0">
                <a:solidFill>
                  <a:srgbClr val="00B050"/>
                </a:solidFill>
              </a:rPr>
              <a:t> : </a:t>
            </a:r>
            <a:r>
              <a:rPr lang="fr-FR" sz="2400" dirty="0">
                <a:solidFill>
                  <a:srgbClr val="FF0000"/>
                </a:solidFill>
              </a:rPr>
              <a:t>X</a:t>
            </a:r>
            <a:r>
              <a:rPr lang="fr-FR" sz="2400" dirty="0">
                <a:solidFill>
                  <a:srgbClr val="00B050"/>
                </a:solidFill>
              </a:rPr>
              <a:t> explique bien </a:t>
            </a:r>
            <a:r>
              <a:rPr lang="fr-FR" sz="2400" dirty="0">
                <a:solidFill>
                  <a:srgbClr val="FF0000"/>
                </a:solidFill>
              </a:rPr>
              <a:t>Y</a:t>
            </a:r>
            <a:r>
              <a:rPr lang="fr-FR" sz="2400" dirty="0">
                <a:solidFill>
                  <a:srgbClr val="00B050"/>
                </a:solidFill>
              </a:rPr>
              <a:t> : (</a:t>
            </a:r>
            <a:r>
              <a:rPr lang="fr-FR" sz="2400" dirty="0">
                <a:solidFill>
                  <a:srgbClr val="FF0000"/>
                </a:solidFill>
              </a:rPr>
              <a:t>a≠0</a:t>
            </a:r>
            <a:r>
              <a:rPr lang="fr-FR" sz="2400" dirty="0">
                <a:solidFill>
                  <a:srgbClr val="00B050"/>
                </a:solidFill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14">
                <a:extLst>
                  <a:ext uri="{FF2B5EF4-FFF2-40B4-BE49-F238E27FC236}">
                    <a16:creationId xmlns:a16="http://schemas.microsoft.com/office/drawing/2014/main" id="{FB6B7448-553B-CA41-0C8A-FFA67696F9D7}"/>
                  </a:ext>
                </a:extLst>
              </p:cNvPr>
              <p:cNvSpPr txBox="1"/>
              <p:nvPr/>
            </p:nvSpPr>
            <p:spPr>
              <a:xfrm>
                <a:off x="899593" y="5823525"/>
                <a:ext cx="1944215" cy="544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</m:t>
                      </m:r>
                      <m:sSubSup>
                        <m:sSubSupPr>
                          <m:ctrlP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b>
                        <m:sup>
                          <m: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0,05</m:t>
                          </m:r>
                        </m:sup>
                      </m:sSubSup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5" name="ZoneTexte 14">
                <a:extLst>
                  <a:ext uri="{FF2B5EF4-FFF2-40B4-BE49-F238E27FC236}">
                    <a16:creationId xmlns:a16="http://schemas.microsoft.com/office/drawing/2014/main" id="{FB6B7448-553B-CA41-0C8A-FFA67696F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3" y="5823525"/>
                <a:ext cx="1944215" cy="544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0D1887-D56C-FD4E-3AF6-6FD4F588F0DD}"/>
                  </a:ext>
                </a:extLst>
              </p:cNvPr>
              <p:cNvSpPr txBox="1"/>
              <p:nvPr/>
            </p:nvSpPr>
            <p:spPr>
              <a:xfrm>
                <a:off x="4781467" y="5923765"/>
                <a:ext cx="3585405" cy="385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oba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)≤0,05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0D1887-D56C-FD4E-3AF6-6FD4F588F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467" y="5923765"/>
                <a:ext cx="3585405" cy="385555"/>
              </a:xfrm>
              <a:prstGeom prst="rect">
                <a:avLst/>
              </a:prstGeom>
              <a:blipFill>
                <a:blip r:embed="rId5"/>
                <a:stretch>
                  <a:fillRect l="-1528" r="-1868" b="-30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5DC05B07-C6A7-BCB4-7021-0D865175EFAB}"/>
              </a:ext>
            </a:extLst>
          </p:cNvPr>
          <p:cNvSpPr/>
          <p:nvPr/>
        </p:nvSpPr>
        <p:spPr>
          <a:xfrm>
            <a:off x="3275856" y="6035031"/>
            <a:ext cx="936104" cy="20228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744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6D30-5FAD-3163-CD20-E1450F90A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88" y="228600"/>
            <a:ext cx="7380312" cy="1266592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La loi et le test de Ficher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90CE9-DA1D-8218-C914-265D53D0E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47C982-96D0-8C7C-06A0-DC0F13ABE6A4}"/>
              </a:ext>
            </a:extLst>
          </p:cNvPr>
          <p:cNvSpPr txBox="1"/>
          <p:nvPr/>
        </p:nvSpPr>
        <p:spPr>
          <a:xfrm>
            <a:off x="323527" y="5981219"/>
            <a:ext cx="32140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00B050"/>
                </a:solidFill>
              </a:rPr>
              <a:t>Zone d’acceptation de H</a:t>
            </a:r>
            <a:r>
              <a:rPr lang="fr-FR" sz="2000" baseline="-25000" dirty="0">
                <a:solidFill>
                  <a:srgbClr val="00B050"/>
                </a:solidFill>
              </a:rPr>
              <a:t>0</a:t>
            </a:r>
          </a:p>
          <a:p>
            <a:pPr algn="ctr"/>
            <a:r>
              <a:rPr lang="fr-FR" sz="2000" dirty="0">
                <a:solidFill>
                  <a:srgbClr val="00B050"/>
                </a:solidFill>
              </a:rPr>
              <a:t>La régression n’est pas fiable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A0C545-3EF4-EBC0-58F3-375F1AC65DC6}"/>
              </a:ext>
            </a:extLst>
          </p:cNvPr>
          <p:cNvSpPr txBox="1"/>
          <p:nvPr/>
        </p:nvSpPr>
        <p:spPr>
          <a:xfrm>
            <a:off x="6156175" y="5837202"/>
            <a:ext cx="2664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FF0000"/>
                </a:solidFill>
              </a:rPr>
              <a:t>Zone de rejet de H</a:t>
            </a:r>
            <a:r>
              <a:rPr lang="fr-FR" sz="2000" baseline="-25000" dirty="0">
                <a:solidFill>
                  <a:srgbClr val="FF0000"/>
                </a:solidFill>
              </a:rPr>
              <a:t>0</a:t>
            </a:r>
          </a:p>
          <a:p>
            <a:pPr algn="ctr"/>
            <a:r>
              <a:rPr lang="fr-FR" sz="2000" dirty="0">
                <a:solidFill>
                  <a:srgbClr val="FF0000"/>
                </a:solidFill>
              </a:rPr>
              <a:t>La régression est fiable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5E5FE4-8D38-82ED-E5B8-4ACE0794D342}"/>
              </a:ext>
            </a:extLst>
          </p:cNvPr>
          <p:cNvSpPr txBox="1"/>
          <p:nvPr/>
        </p:nvSpPr>
        <p:spPr>
          <a:xfrm>
            <a:off x="3537599" y="5981218"/>
            <a:ext cx="1453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solidFill>
                  <a:srgbClr val="FF0000"/>
                </a:solidFill>
              </a:rPr>
              <a:t>Seuil critique</a:t>
            </a:r>
            <a:endParaRPr lang="en-US" sz="2000" baseline="-25000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1F309E1-30A4-3242-B951-76308C0B1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249" y="2117241"/>
            <a:ext cx="6153119" cy="2965838"/>
          </a:xfrm>
          <a:prstGeom prst="rect">
            <a:avLst/>
          </a:prstGeom>
        </p:spPr>
      </p:pic>
      <p:sp>
        <p:nvSpPr>
          <p:cNvPr id="16" name="Arrow: Up 15">
            <a:extLst>
              <a:ext uri="{FF2B5EF4-FFF2-40B4-BE49-F238E27FC236}">
                <a16:creationId xmlns:a16="http://schemas.microsoft.com/office/drawing/2014/main" id="{D8A2E410-5C62-90FE-D0D0-87DBDABC3E09}"/>
              </a:ext>
            </a:extLst>
          </p:cNvPr>
          <p:cNvSpPr/>
          <p:nvPr/>
        </p:nvSpPr>
        <p:spPr>
          <a:xfrm>
            <a:off x="4211960" y="5235479"/>
            <a:ext cx="45719" cy="70788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8FD01A-D3C2-56A0-08E8-CE6AED0F8DFD}"/>
              </a:ext>
            </a:extLst>
          </p:cNvPr>
          <p:cNvSpPr txBox="1"/>
          <p:nvPr/>
        </p:nvSpPr>
        <p:spPr>
          <a:xfrm>
            <a:off x="2339752" y="3543399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00B050"/>
                </a:solidFill>
              </a:rPr>
              <a:t>95%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06396A0-FEFB-AB24-DC02-15F894E1DD74}"/>
              </a:ext>
            </a:extLst>
          </p:cNvPr>
          <p:cNvSpPr/>
          <p:nvPr/>
        </p:nvSpPr>
        <p:spPr>
          <a:xfrm rot="17355041">
            <a:off x="1585885" y="5378457"/>
            <a:ext cx="1162544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7D077CA-9A2C-61F4-35F3-7225D45A8D68}"/>
              </a:ext>
            </a:extLst>
          </p:cNvPr>
          <p:cNvSpPr/>
          <p:nvPr/>
        </p:nvSpPr>
        <p:spPr>
          <a:xfrm rot="13512344" flipV="1">
            <a:off x="5864658" y="5241588"/>
            <a:ext cx="1108355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5DC3FB-5A20-87DD-38AB-71424E064911}"/>
              </a:ext>
            </a:extLst>
          </p:cNvPr>
          <p:cNvSpPr txBox="1"/>
          <p:nvPr/>
        </p:nvSpPr>
        <p:spPr>
          <a:xfrm>
            <a:off x="4499992" y="4263479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00B050"/>
                </a:solidFill>
              </a:rPr>
              <a:t>5%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022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E16395-B511-4B27-BDCD-9896B23FD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490" y="0"/>
            <a:ext cx="7194510" cy="1555270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Tableau d’analyse de la variance et test de Fisher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D9C9678-9615-42B7-86F8-3E06D706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fr-FR" smtClean="0"/>
              <a:pPr/>
              <a:t>12</a:t>
            </a:fld>
            <a:endParaRPr lang="fr-FR"/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EC0B2431-0FD0-46E0-994D-B4B19F35C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883099"/>
              </p:ext>
            </p:extLst>
          </p:nvPr>
        </p:nvGraphicFramePr>
        <p:xfrm>
          <a:off x="179512" y="2204864"/>
          <a:ext cx="8784976" cy="4290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4234689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1838458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411455462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46612630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13219401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56610885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752717960"/>
                    </a:ext>
                  </a:extLst>
                </a:gridCol>
              </a:tblGrid>
              <a:tr h="1072656"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Somme des carrés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Degré de liberté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Carrés moyens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Seuil critique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175095"/>
                  </a:ext>
                </a:extLst>
              </a:tr>
              <a:tr h="1072656">
                <a:tc>
                  <a:txBody>
                    <a:bodyPr/>
                    <a:lstStyle/>
                    <a:p>
                      <a:endParaRPr lang="fr-FR" sz="2000" dirty="0"/>
                    </a:p>
                    <a:p>
                      <a:r>
                        <a:rPr lang="fr-FR" sz="2000" dirty="0"/>
                        <a:t>Expliquée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2699969"/>
                  </a:ext>
                </a:extLst>
              </a:tr>
              <a:tr h="1072656">
                <a:tc>
                  <a:txBody>
                    <a:bodyPr/>
                    <a:lstStyle/>
                    <a:p>
                      <a:endParaRPr lang="fr-FR" sz="2000" dirty="0"/>
                    </a:p>
                    <a:p>
                      <a:r>
                        <a:rPr lang="fr-FR" sz="2000" dirty="0"/>
                        <a:t>Résiduelle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n –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699722"/>
                  </a:ext>
                </a:extLst>
              </a:tr>
              <a:tr h="1072656">
                <a:tc>
                  <a:txBody>
                    <a:bodyPr/>
                    <a:lstStyle/>
                    <a:p>
                      <a:endParaRPr lang="fr-FR" sz="2000" dirty="0"/>
                    </a:p>
                    <a:p>
                      <a:r>
                        <a:rPr lang="fr-FR" sz="2000" dirty="0"/>
                        <a:t>Totale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n –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55945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6">
                <a:extLst>
                  <a:ext uri="{FF2B5EF4-FFF2-40B4-BE49-F238E27FC236}">
                    <a16:creationId xmlns:a16="http://schemas.microsoft.com/office/drawing/2014/main" id="{6F777CF0-684A-70EB-FF3C-255D5F5D06C0}"/>
                  </a:ext>
                </a:extLst>
              </p:cNvPr>
              <p:cNvSpPr txBox="1"/>
              <p:nvPr/>
            </p:nvSpPr>
            <p:spPr>
              <a:xfrm>
                <a:off x="1429508" y="4577088"/>
                <a:ext cx="1728192" cy="837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fr-F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fr-F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fr-FR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fr-F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fr-FR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fr-FR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fr-FR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fr-F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fName>
                        <m:e>
                          <m:r>
                            <a:rPr lang="fr-FR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2000" dirty="0"/>
              </a:p>
            </p:txBody>
          </p:sp>
        </mc:Choice>
        <mc:Fallback>
          <p:sp>
            <p:nvSpPr>
              <p:cNvPr id="4" name="ZoneTexte 6">
                <a:extLst>
                  <a:ext uri="{FF2B5EF4-FFF2-40B4-BE49-F238E27FC236}">
                    <a16:creationId xmlns:a16="http://schemas.microsoft.com/office/drawing/2014/main" id="{6F777CF0-684A-70EB-FF3C-255D5F5D0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508" y="4577088"/>
                <a:ext cx="1728192" cy="837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7">
                <a:extLst>
                  <a:ext uri="{FF2B5EF4-FFF2-40B4-BE49-F238E27FC236}">
                    <a16:creationId xmlns:a16="http://schemas.microsoft.com/office/drawing/2014/main" id="{A01D8A55-4609-6E90-65A7-468EF3B4B90A}"/>
                  </a:ext>
                </a:extLst>
              </p:cNvPr>
              <p:cNvSpPr txBox="1"/>
              <p:nvPr/>
            </p:nvSpPr>
            <p:spPr>
              <a:xfrm>
                <a:off x="1429508" y="5526852"/>
                <a:ext cx="1728192" cy="837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fr-F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fr-F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fr-FR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fr-FR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fr-FR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fr-F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fName>
                        <m:e>
                          <m:r>
                            <a:rPr lang="fr-FR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2000" dirty="0"/>
              </a:p>
            </p:txBody>
          </p:sp>
        </mc:Choice>
        <mc:Fallback>
          <p:sp>
            <p:nvSpPr>
              <p:cNvPr id="7" name="ZoneTexte 7">
                <a:extLst>
                  <a:ext uri="{FF2B5EF4-FFF2-40B4-BE49-F238E27FC236}">
                    <a16:creationId xmlns:a16="http://schemas.microsoft.com/office/drawing/2014/main" id="{A01D8A55-4609-6E90-65A7-468EF3B4B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508" y="5526852"/>
                <a:ext cx="1728192" cy="837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9">
                <a:extLst>
                  <a:ext uri="{FF2B5EF4-FFF2-40B4-BE49-F238E27FC236}">
                    <a16:creationId xmlns:a16="http://schemas.microsoft.com/office/drawing/2014/main" id="{0C063B06-15AD-DDA9-3237-064F5D2A75D1}"/>
                  </a:ext>
                </a:extLst>
              </p:cNvPr>
              <p:cNvSpPr txBox="1"/>
              <p:nvPr/>
            </p:nvSpPr>
            <p:spPr>
              <a:xfrm>
                <a:off x="1403648" y="3402904"/>
                <a:ext cx="1728192" cy="837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fr-F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fr-F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fr-FR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fr-FR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fr-FR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fr-FR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fr-FR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fr-F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fName>
                        <m:e>
                          <m:r>
                            <a:rPr lang="fr-FR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2000" dirty="0"/>
              </a:p>
            </p:txBody>
          </p:sp>
        </mc:Choice>
        <mc:Fallback>
          <p:sp>
            <p:nvSpPr>
              <p:cNvPr id="9" name="ZoneTexte 9">
                <a:extLst>
                  <a:ext uri="{FF2B5EF4-FFF2-40B4-BE49-F238E27FC236}">
                    <a16:creationId xmlns:a16="http://schemas.microsoft.com/office/drawing/2014/main" id="{0C063B06-15AD-DDA9-3237-064F5D2A7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3402904"/>
                <a:ext cx="1728192" cy="837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10">
                <a:extLst>
                  <a:ext uri="{FF2B5EF4-FFF2-40B4-BE49-F238E27FC236}">
                    <a16:creationId xmlns:a16="http://schemas.microsoft.com/office/drawing/2014/main" id="{E174F6CC-6CAA-3BE2-5AC1-CAD2B6BA2823}"/>
                  </a:ext>
                </a:extLst>
              </p:cNvPr>
              <p:cNvSpPr txBox="1"/>
              <p:nvPr/>
            </p:nvSpPr>
            <p:spPr>
              <a:xfrm>
                <a:off x="3927553" y="3616684"/>
                <a:ext cx="1292519" cy="529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2000" dirty="0">
                    <a:solidFill>
                      <a:srgbClr val="FF0000"/>
                    </a:solidFill>
                  </a:rPr>
                  <a:t>VE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𝑆𝐶𝐸</m:t>
                        </m:r>
                      </m:num>
                      <m:den>
                        <m:r>
                          <a:rPr lang="fr-F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fr-FR" sz="2000" dirty="0"/>
              </a:p>
            </p:txBody>
          </p:sp>
        </mc:Choice>
        <mc:Fallback>
          <p:sp>
            <p:nvSpPr>
              <p:cNvPr id="10" name="ZoneTexte 10">
                <a:extLst>
                  <a:ext uri="{FF2B5EF4-FFF2-40B4-BE49-F238E27FC236}">
                    <a16:creationId xmlns:a16="http://schemas.microsoft.com/office/drawing/2014/main" id="{E174F6CC-6CAA-3BE2-5AC1-CAD2B6BA2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553" y="3616684"/>
                <a:ext cx="1292519" cy="529504"/>
              </a:xfrm>
              <a:prstGeom prst="rect">
                <a:avLst/>
              </a:prstGeom>
              <a:blipFill>
                <a:blip r:embed="rId5"/>
                <a:stretch>
                  <a:fillRect l="-4717" b="-8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1">
                <a:extLst>
                  <a:ext uri="{FF2B5EF4-FFF2-40B4-BE49-F238E27FC236}">
                    <a16:creationId xmlns:a16="http://schemas.microsoft.com/office/drawing/2014/main" id="{B0E5ED3B-1C19-F9B2-A0CB-F2CF7CBEF5C6}"/>
                  </a:ext>
                </a:extLst>
              </p:cNvPr>
              <p:cNvSpPr txBox="1"/>
              <p:nvPr/>
            </p:nvSpPr>
            <p:spPr>
              <a:xfrm>
                <a:off x="3851920" y="4658338"/>
                <a:ext cx="1292519" cy="531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2000" dirty="0">
                    <a:solidFill>
                      <a:srgbClr val="FF0000"/>
                    </a:solidFill>
                  </a:rPr>
                  <a:t>VR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𝑆𝐶𝑅</m:t>
                        </m:r>
                      </m:num>
                      <m:den>
                        <m: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</m:oMath>
                </a14:m>
                <a:endParaRPr lang="fr-FR" sz="2000" dirty="0"/>
              </a:p>
            </p:txBody>
          </p:sp>
        </mc:Choice>
        <mc:Fallback>
          <p:sp>
            <p:nvSpPr>
              <p:cNvPr id="11" name="ZoneTexte 11">
                <a:extLst>
                  <a:ext uri="{FF2B5EF4-FFF2-40B4-BE49-F238E27FC236}">
                    <a16:creationId xmlns:a16="http://schemas.microsoft.com/office/drawing/2014/main" id="{B0E5ED3B-1C19-F9B2-A0CB-F2CF7CBEF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4658338"/>
                <a:ext cx="1292519" cy="531107"/>
              </a:xfrm>
              <a:prstGeom prst="rect">
                <a:avLst/>
              </a:prstGeom>
              <a:blipFill>
                <a:blip r:embed="rId6"/>
                <a:stretch>
                  <a:fillRect l="-5189" b="-8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90C80DC8-5B05-5254-05D0-6741F20CC40F}"/>
                  </a:ext>
                </a:extLst>
              </p:cNvPr>
              <p:cNvSpPr txBox="1"/>
              <p:nvPr/>
            </p:nvSpPr>
            <p:spPr>
              <a:xfrm>
                <a:off x="5148064" y="3513131"/>
                <a:ext cx="1292519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fr-FR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𝐶𝑀𝐸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𝐶𝑀𝑅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90C80DC8-5B05-5254-05D0-6741F20CC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3513131"/>
                <a:ext cx="1292519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ZoneTexte 14">
                <a:extLst>
                  <a:ext uri="{FF2B5EF4-FFF2-40B4-BE49-F238E27FC236}">
                    <a16:creationId xmlns:a16="http://schemas.microsoft.com/office/drawing/2014/main" id="{1A9F46DE-4B99-9BDC-BD2B-41E67217C20C}"/>
                  </a:ext>
                </a:extLst>
              </p:cNvPr>
              <p:cNvSpPr txBox="1"/>
              <p:nvPr/>
            </p:nvSpPr>
            <p:spPr>
              <a:xfrm>
                <a:off x="7977316" y="3616684"/>
                <a:ext cx="915164" cy="468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1,   </m:t>
                          </m:r>
                          <m: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b>
                        <m:sup>
                          <m:r>
                            <a:rPr lang="fr-FR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0,05</m:t>
                          </m:r>
                        </m:sup>
                      </m:sSubSup>
                    </m:oMath>
                  </m:oMathPara>
                </a14:m>
                <a:endParaRPr lang="fr-FR" sz="2000" dirty="0"/>
              </a:p>
            </p:txBody>
          </p:sp>
        </mc:Choice>
        <mc:Fallback>
          <p:sp>
            <p:nvSpPr>
              <p:cNvPr id="14" name="ZoneTexte 14">
                <a:extLst>
                  <a:ext uri="{FF2B5EF4-FFF2-40B4-BE49-F238E27FC236}">
                    <a16:creationId xmlns:a16="http://schemas.microsoft.com/office/drawing/2014/main" id="{1A9F46DE-4B99-9BDC-BD2B-41E67217C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316" y="3616684"/>
                <a:ext cx="915164" cy="4686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ZoneTexte 12">
                <a:extLst>
                  <a:ext uri="{FF2B5EF4-FFF2-40B4-BE49-F238E27FC236}">
                    <a16:creationId xmlns:a16="http://schemas.microsoft.com/office/drawing/2014/main" id="{0A324C9D-5C28-2D3C-0CE2-545FAC4F1A80}"/>
                  </a:ext>
                </a:extLst>
              </p:cNvPr>
              <p:cNvSpPr txBox="1"/>
              <p:nvPr/>
            </p:nvSpPr>
            <p:spPr>
              <a:xfrm>
                <a:off x="6516216" y="3635732"/>
                <a:ext cx="12925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fr-FR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fr-FR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fr-FR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fr-FR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5" name="ZoneTexte 12">
                <a:extLst>
                  <a:ext uri="{FF2B5EF4-FFF2-40B4-BE49-F238E27FC236}">
                    <a16:creationId xmlns:a16="http://schemas.microsoft.com/office/drawing/2014/main" id="{0A324C9D-5C28-2D3C-0CE2-545FAC4F1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16" y="3635732"/>
                <a:ext cx="1292519" cy="369332"/>
              </a:xfrm>
              <a:prstGeom prst="rect">
                <a:avLst/>
              </a:prstGeom>
              <a:blipFill>
                <a:blip r:embed="rId9"/>
                <a:stretch>
                  <a:fillRect r="-5189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1792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E16395-B511-4B27-BDCD-9896B23FD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490" y="0"/>
            <a:ext cx="7194510" cy="1555270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Tableau d’analyse de la variance et test de Fisher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D9C9678-9615-42B7-86F8-3E06D706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fr-FR" smtClean="0"/>
              <a:pPr/>
              <a:t>13</a:t>
            </a:fld>
            <a:endParaRPr lang="fr-FR"/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EC0B2431-0FD0-46E0-994D-B4B19F35C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158513"/>
              </p:ext>
            </p:extLst>
          </p:nvPr>
        </p:nvGraphicFramePr>
        <p:xfrm>
          <a:off x="179512" y="2204864"/>
          <a:ext cx="8784976" cy="4290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42346896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1838458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11455462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466126307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13219401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6610885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752717960"/>
                    </a:ext>
                  </a:extLst>
                </a:gridCol>
              </a:tblGrid>
              <a:tr h="1072656"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Somme des carrés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Degré de liberté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Carrés moyens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Seuil critique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175095"/>
                  </a:ext>
                </a:extLst>
              </a:tr>
              <a:tr h="1072656">
                <a:tc>
                  <a:txBody>
                    <a:bodyPr/>
                    <a:lstStyle/>
                    <a:p>
                      <a:endParaRPr lang="fr-FR" sz="2000" dirty="0"/>
                    </a:p>
                    <a:p>
                      <a:r>
                        <a:rPr lang="fr-FR" sz="2000" dirty="0"/>
                        <a:t>Expliquée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2 931 158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  <a:p>
                      <a:pPr algn="ctr"/>
                      <a:r>
                        <a:rPr lang="fr-FR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2 931 158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18,49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0,0016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4,96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2699969"/>
                  </a:ext>
                </a:extLst>
              </a:tr>
              <a:tr h="1072656">
                <a:tc>
                  <a:txBody>
                    <a:bodyPr/>
                    <a:lstStyle/>
                    <a:p>
                      <a:endParaRPr lang="fr-FR" sz="2000" dirty="0"/>
                    </a:p>
                    <a:p>
                      <a:r>
                        <a:rPr lang="fr-FR" sz="2000" dirty="0"/>
                        <a:t>Résiduelle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1 585 368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  <a:p>
                      <a:pPr algn="ctr"/>
                      <a:r>
                        <a:rPr lang="fr-FR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158 536,8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699722"/>
                  </a:ext>
                </a:extLst>
              </a:tr>
              <a:tr h="1072656">
                <a:tc>
                  <a:txBody>
                    <a:bodyPr/>
                    <a:lstStyle/>
                    <a:p>
                      <a:endParaRPr lang="fr-FR" sz="2000" dirty="0"/>
                    </a:p>
                    <a:p>
                      <a:r>
                        <a:rPr lang="fr-FR" sz="2000" dirty="0"/>
                        <a:t>Totale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4 516 526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  <a:p>
                      <a:pPr algn="ctr"/>
                      <a:r>
                        <a:rPr lang="fr-FR" sz="2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55945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E295409-8AB1-4A77-BC9A-2E821C6FA13B}"/>
              </a:ext>
            </a:extLst>
          </p:cNvPr>
          <p:cNvSpPr/>
          <p:nvPr/>
        </p:nvSpPr>
        <p:spPr>
          <a:xfrm>
            <a:off x="6732240" y="3573016"/>
            <a:ext cx="1008112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6D0FBBE4-1113-4364-822A-14E07987CBCB}"/>
              </a:ext>
            </a:extLst>
          </p:cNvPr>
          <p:cNvCxnSpPr>
            <a:cxnSpLocks/>
          </p:cNvCxnSpPr>
          <p:nvPr/>
        </p:nvCxnSpPr>
        <p:spPr>
          <a:xfrm flipV="1">
            <a:off x="7236296" y="4149080"/>
            <a:ext cx="0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BE333A30-1CE1-45EF-9E8B-B3D857D86341}"/>
              </a:ext>
            </a:extLst>
          </p:cNvPr>
          <p:cNvSpPr txBox="1"/>
          <p:nvPr/>
        </p:nvSpPr>
        <p:spPr>
          <a:xfrm>
            <a:off x="6516216" y="4751513"/>
            <a:ext cx="1584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FF0000"/>
                </a:solidFill>
              </a:rPr>
              <a:t>Le modèle est fiable</a:t>
            </a:r>
          </a:p>
        </p:txBody>
      </p:sp>
    </p:spTree>
    <p:extLst>
      <p:ext uri="{BB962C8B-B14F-4D97-AF65-F5344CB8AC3E}">
        <p14:creationId xmlns:p14="http://schemas.microsoft.com/office/powerpoint/2010/main" val="524978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144016"/>
            <a:ext cx="7380312" cy="1556792"/>
          </a:xfrm>
        </p:spPr>
        <p:txBody>
          <a:bodyPr>
            <a:normAutofit/>
          </a:bodyPr>
          <a:lstStyle/>
          <a:p>
            <a:pPr algn="ctr"/>
            <a:r>
              <a:rPr lang="fr-FR" sz="4200" dirty="0"/>
              <a:t>Régression Linéaire Multiple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79512" y="1988840"/>
            <a:ext cx="85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rgbClr val="FF0000"/>
                </a:solidFill>
              </a:rPr>
              <a:t>Objectif</a:t>
            </a:r>
            <a:r>
              <a:rPr lang="fr-FR" sz="2400" dirty="0">
                <a:solidFill>
                  <a:srgbClr val="00B050"/>
                </a:solidFill>
              </a:rPr>
              <a:t> : expliquer une variable quantitatives </a:t>
            </a:r>
            <a:r>
              <a:rPr lang="fr-FR" sz="2400" dirty="0">
                <a:solidFill>
                  <a:srgbClr val="FF0000"/>
                </a:solidFill>
              </a:rPr>
              <a:t>Y</a:t>
            </a:r>
            <a:r>
              <a:rPr lang="fr-FR" sz="2400" dirty="0">
                <a:solidFill>
                  <a:srgbClr val="00B050"/>
                </a:solidFill>
              </a:rPr>
              <a:t> par plusieurs variables quantitatives </a:t>
            </a:r>
            <a:r>
              <a:rPr lang="fr-FR" sz="2400" dirty="0">
                <a:solidFill>
                  <a:srgbClr val="FF0000"/>
                </a:solidFill>
              </a:rPr>
              <a:t>X</a:t>
            </a:r>
            <a:r>
              <a:rPr lang="fr-FR" sz="2400" baseline="-25000" dirty="0">
                <a:solidFill>
                  <a:srgbClr val="FF0000"/>
                </a:solidFill>
              </a:rPr>
              <a:t>1</a:t>
            </a:r>
            <a:r>
              <a:rPr lang="fr-FR" sz="2400" dirty="0">
                <a:solidFill>
                  <a:srgbClr val="FF0000"/>
                </a:solidFill>
              </a:rPr>
              <a:t>, X</a:t>
            </a:r>
            <a:r>
              <a:rPr lang="fr-FR" sz="2400" baseline="-25000" dirty="0">
                <a:solidFill>
                  <a:srgbClr val="FF0000"/>
                </a:solidFill>
              </a:rPr>
              <a:t>2</a:t>
            </a:r>
            <a:r>
              <a:rPr lang="fr-FR" sz="2400" dirty="0">
                <a:solidFill>
                  <a:srgbClr val="FF0000"/>
                </a:solidFill>
              </a:rPr>
              <a:t>, …, </a:t>
            </a:r>
            <a:r>
              <a:rPr lang="fr-FR" sz="2400" dirty="0" err="1">
                <a:solidFill>
                  <a:srgbClr val="FF0000"/>
                </a:solidFill>
              </a:rPr>
              <a:t>X</a:t>
            </a:r>
            <a:r>
              <a:rPr lang="fr-FR" sz="2400" baseline="-25000" dirty="0" err="1">
                <a:solidFill>
                  <a:srgbClr val="FF0000"/>
                </a:solidFill>
              </a:rPr>
              <a:t>p</a:t>
            </a:r>
            <a:r>
              <a:rPr lang="fr-FR" sz="2400" dirty="0">
                <a:solidFill>
                  <a:srgbClr val="00B050"/>
                </a:solidFill>
              </a:rPr>
              <a:t>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38493C9-DAC4-41AE-955E-404EFF7A70A0}"/>
              </a:ext>
            </a:extLst>
          </p:cNvPr>
          <p:cNvSpPr txBox="1"/>
          <p:nvPr/>
        </p:nvSpPr>
        <p:spPr>
          <a:xfrm>
            <a:off x="251520" y="5982379"/>
            <a:ext cx="84249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solidFill>
                  <a:srgbClr val="FF0000"/>
                </a:solidFill>
              </a:rPr>
              <a:t>Exemple</a:t>
            </a:r>
            <a:r>
              <a:rPr lang="fr-FR" sz="2400" dirty="0">
                <a:solidFill>
                  <a:srgbClr val="00B050"/>
                </a:solidFill>
              </a:rPr>
              <a:t> : expliquer le coût de production par les quantités fabriquées de 2 produits.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E54D4B-2B8E-9D4C-F1B2-5AA0561F9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496" y="2996705"/>
            <a:ext cx="4593704" cy="280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16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398" y="144016"/>
            <a:ext cx="7159601" cy="1556792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Le modèle théorique de la régression linéaire</a:t>
            </a:r>
            <a:endParaRPr lang="fr-FR" sz="39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79512" y="2204864"/>
            <a:ext cx="85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rgbClr val="00B050"/>
                </a:solidFill>
              </a:rPr>
              <a:t>Une variable quantitative </a:t>
            </a:r>
            <a:r>
              <a:rPr lang="fr-FR" sz="2400" dirty="0">
                <a:solidFill>
                  <a:srgbClr val="FF0000"/>
                </a:solidFill>
              </a:rPr>
              <a:t>Y</a:t>
            </a:r>
            <a:r>
              <a:rPr lang="fr-FR" sz="2400" dirty="0">
                <a:solidFill>
                  <a:srgbClr val="00B050"/>
                </a:solidFill>
              </a:rPr>
              <a:t> est expliquée par plusieurs variables quantitatives </a:t>
            </a:r>
            <a:r>
              <a:rPr lang="fr-FR" sz="2400" dirty="0">
                <a:solidFill>
                  <a:srgbClr val="FF0000"/>
                </a:solidFill>
              </a:rPr>
              <a:t>X</a:t>
            </a:r>
            <a:r>
              <a:rPr lang="fr-FR" sz="2400" baseline="-25000" dirty="0">
                <a:solidFill>
                  <a:srgbClr val="FF0000"/>
                </a:solidFill>
              </a:rPr>
              <a:t>1</a:t>
            </a:r>
            <a:r>
              <a:rPr lang="fr-FR" sz="2400" dirty="0">
                <a:solidFill>
                  <a:srgbClr val="FF0000"/>
                </a:solidFill>
              </a:rPr>
              <a:t>, X</a:t>
            </a:r>
            <a:r>
              <a:rPr lang="fr-FR" sz="2400" baseline="-25000" dirty="0">
                <a:solidFill>
                  <a:srgbClr val="FF0000"/>
                </a:solidFill>
              </a:rPr>
              <a:t>2</a:t>
            </a:r>
            <a:r>
              <a:rPr lang="fr-FR" sz="2400" dirty="0">
                <a:solidFill>
                  <a:srgbClr val="FF0000"/>
                </a:solidFill>
              </a:rPr>
              <a:t>, …, </a:t>
            </a:r>
            <a:r>
              <a:rPr lang="fr-FR" sz="2400" dirty="0" err="1">
                <a:solidFill>
                  <a:srgbClr val="FF0000"/>
                </a:solidFill>
              </a:rPr>
              <a:t>X</a:t>
            </a:r>
            <a:r>
              <a:rPr lang="fr-FR" sz="2400" baseline="-25000" dirty="0" err="1">
                <a:solidFill>
                  <a:srgbClr val="FF0000"/>
                </a:solidFill>
              </a:rPr>
              <a:t>p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>
                <a:solidFill>
                  <a:srgbClr val="00B050"/>
                </a:solidFill>
              </a:rPr>
              <a:t>selon le modèle suivant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32221783-CB1C-4A68-AEEF-248453F69A15}"/>
                  </a:ext>
                </a:extLst>
              </p:cNvPr>
              <p:cNvSpPr txBox="1"/>
              <p:nvPr/>
            </p:nvSpPr>
            <p:spPr>
              <a:xfrm>
                <a:off x="683568" y="3290618"/>
                <a:ext cx="7920879" cy="3978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𝑖𝑝</m:t>
                        </m:r>
                      </m:sub>
                    </m:sSub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,</m:t>
                    </m:r>
                    <m:r>
                      <m:rPr>
                        <m:nor/>
                      </m:rPr>
                      <a:rPr lang="fr-FR" sz="24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m:rPr>
                        <m:nor/>
                      </m:rPr>
                      <a:rPr lang="fr-FR" sz="2400" dirty="0" smtClean="0">
                        <a:solidFill>
                          <a:srgbClr val="00B050"/>
                        </a:solidFill>
                      </a:rPr>
                      <m:t>i</m:t>
                    </m:r>
                    <m:r>
                      <m:rPr>
                        <m:nor/>
                      </m:rPr>
                      <a:rPr lang="fr-FR" sz="2400" dirty="0" smtClean="0">
                        <a:solidFill>
                          <a:srgbClr val="00B050"/>
                        </a:solidFill>
                      </a:rPr>
                      <m:t>=1,…,</m:t>
                    </m:r>
                    <m:r>
                      <m:rPr>
                        <m:nor/>
                      </m:rPr>
                      <a:rPr lang="fr-FR" sz="2400" b="0" i="0" dirty="0" smtClean="0">
                        <a:solidFill>
                          <a:srgbClr val="00B050"/>
                        </a:solidFill>
                      </a:rPr>
                      <m:t>n</m:t>
                    </m:r>
                    <m:r>
                      <m:rPr>
                        <m:nor/>
                      </m:rPr>
                      <a:rPr lang="fr-FR" sz="2400" b="0" i="0" dirty="0" smtClean="0">
                        <a:solidFill>
                          <a:srgbClr val="00B050"/>
                        </a:solidFill>
                      </a:rPr>
                      <m:t>.</m:t>
                    </m:r>
                  </m:oMath>
                </a14:m>
                <a:endParaRPr lang="fr-FR" sz="2400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32221783-CB1C-4A68-AEEF-248453F69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290618"/>
                <a:ext cx="7920879" cy="397866"/>
              </a:xfrm>
              <a:prstGeom prst="rect">
                <a:avLst/>
              </a:prstGeom>
              <a:blipFill>
                <a:blip r:embed="rId2"/>
                <a:stretch>
                  <a:fillRect l="-1386" t="-15385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 10">
            <a:extLst>
              <a:ext uri="{FF2B5EF4-FFF2-40B4-BE49-F238E27FC236}">
                <a16:creationId xmlns:a16="http://schemas.microsoft.com/office/drawing/2014/main" id="{47F48C32-C0EA-4F52-8000-84FE11D22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617" y="4051900"/>
            <a:ext cx="5175201" cy="13933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7405FD8C-33DE-4A50-B9A5-B633D2D7938F}"/>
                  </a:ext>
                </a:extLst>
              </p:cNvPr>
              <p:cNvSpPr txBox="1"/>
              <p:nvPr/>
            </p:nvSpPr>
            <p:spPr>
              <a:xfrm>
                <a:off x="2242186" y="5736248"/>
                <a:ext cx="458263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fr-FR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=     </m:t>
                      </m:r>
                      <m:r>
                        <a:rPr lang="fr-FR" sz="3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𝑋𝑎</m:t>
                      </m:r>
                      <m:r>
                        <a:rPr lang="fr-FR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fr-FR" sz="36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sty m:val="p"/>
                        </m:rPr>
                        <a:rPr lang="fr-FR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fr-FR" sz="3600" dirty="0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7405FD8C-33DE-4A50-B9A5-B633D2D79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186" y="5736248"/>
                <a:ext cx="458263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6121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723BDF-3199-4BF2-AED8-1740CB0EE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dirty="0"/>
              <a:t>Estimateur des moindre carrées des coefficients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47FFDFF-16B3-4BE4-A16D-1B6B1CA0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fr-FR" smtClean="0"/>
              <a:pPr/>
              <a:t>16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4FE5A84B-4CD7-401D-B453-0035D4F794F6}"/>
                  </a:ext>
                </a:extLst>
              </p:cNvPr>
              <p:cNvSpPr txBox="1"/>
              <p:nvPr/>
            </p:nvSpPr>
            <p:spPr>
              <a:xfrm>
                <a:off x="326991" y="3068960"/>
                <a:ext cx="8359809" cy="10082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lim>
                          </m:limLow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</m:fName>
                        <m:e>
                          <m:nary>
                            <m:naryPr>
                              <m:chr m:val="∑"/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ε</m:t>
                                      </m:r>
                                    </m:e>
                                    <m:sub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nary>
                            <m:naryPr>
                              <m:chr m:val="∑"/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(</m:t>
                                  </m:r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 </m:t>
                                      </m:r>
                                      <m:r>
                                        <a:rPr lang="fr-FR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e>
                                <m:sup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4FE5A84B-4CD7-401D-B453-0035D4F79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91" y="3068960"/>
                <a:ext cx="8359809" cy="1008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7">
            <a:extLst>
              <a:ext uri="{FF2B5EF4-FFF2-40B4-BE49-F238E27FC236}">
                <a16:creationId xmlns:a16="http://schemas.microsoft.com/office/drawing/2014/main" id="{7991A69A-E626-4E43-A46C-2BCC450880F5}"/>
              </a:ext>
            </a:extLst>
          </p:cNvPr>
          <p:cNvSpPr txBox="1"/>
          <p:nvPr/>
        </p:nvSpPr>
        <p:spPr>
          <a:xfrm>
            <a:off x="287524" y="2204864"/>
            <a:ext cx="85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rgbClr val="00B050"/>
                </a:solidFill>
              </a:rPr>
              <a:t>Les paramètres du modèles sont fixés de manière à minimiser la sommes des carrés résiduels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777F5DF9-4992-4714-894B-CF98552BD776}"/>
                  </a:ext>
                </a:extLst>
              </p:cNvPr>
              <p:cNvSpPr txBox="1"/>
              <p:nvPr/>
            </p:nvSpPr>
            <p:spPr>
              <a:xfrm>
                <a:off x="3059832" y="4869160"/>
                <a:ext cx="280831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fr-FR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777F5DF9-4992-4714-894B-CF98552BD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4869160"/>
                <a:ext cx="2808312" cy="369332"/>
              </a:xfrm>
              <a:prstGeom prst="rect">
                <a:avLst/>
              </a:prstGeom>
              <a:blipFill>
                <a:blip r:embed="rId3"/>
                <a:stretch>
                  <a:fillRect t="-1667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7">
            <a:extLst>
              <a:ext uri="{FF2B5EF4-FFF2-40B4-BE49-F238E27FC236}">
                <a16:creationId xmlns:a16="http://schemas.microsoft.com/office/drawing/2014/main" id="{1C1FF64C-1C13-4D84-94A2-468C06B2763C}"/>
              </a:ext>
            </a:extLst>
          </p:cNvPr>
          <p:cNvSpPr txBox="1"/>
          <p:nvPr/>
        </p:nvSpPr>
        <p:spPr>
          <a:xfrm>
            <a:off x="326991" y="4263479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rgbClr val="00B050"/>
                </a:solidFill>
              </a:rPr>
              <a:t>En supposant            inversible, on obtient les paramètres suivants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449D7DF1-FE7E-46ED-9343-78E3350F0417}"/>
                  </a:ext>
                </a:extLst>
              </p:cNvPr>
              <p:cNvSpPr txBox="1"/>
              <p:nvPr/>
            </p:nvSpPr>
            <p:spPr>
              <a:xfrm>
                <a:off x="2051720" y="4263479"/>
                <a:ext cx="83164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449D7DF1-FE7E-46ED-9343-78E3350F0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4263479"/>
                <a:ext cx="83164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55AF9D0A-4320-4158-9375-E73D24C09A97}"/>
                  </a:ext>
                </a:extLst>
              </p:cNvPr>
              <p:cNvSpPr txBox="1"/>
              <p:nvPr/>
            </p:nvSpPr>
            <p:spPr>
              <a:xfrm>
                <a:off x="3214328" y="5991671"/>
                <a:ext cx="1573696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55AF9D0A-4320-4158-9375-E73D24C09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328" y="5991671"/>
                <a:ext cx="1573696" cy="471539"/>
              </a:xfrm>
              <a:prstGeom prst="rect">
                <a:avLst/>
              </a:prstGeom>
              <a:blipFill>
                <a:blip r:embed="rId5"/>
                <a:stretch>
                  <a:fillRect l="-775" t="-5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7">
            <a:extLst>
              <a:ext uri="{FF2B5EF4-FFF2-40B4-BE49-F238E27FC236}">
                <a16:creationId xmlns:a16="http://schemas.microsoft.com/office/drawing/2014/main" id="{8D228C97-A4DB-4420-BD2C-A065B7DBAF55}"/>
              </a:ext>
            </a:extLst>
          </p:cNvPr>
          <p:cNvSpPr txBox="1"/>
          <p:nvPr/>
        </p:nvSpPr>
        <p:spPr>
          <a:xfrm>
            <a:off x="395536" y="5373216"/>
            <a:ext cx="8568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rgbClr val="00B050"/>
                </a:solidFill>
              </a:rPr>
              <a:t>Les paramètres permettent de prédire la variable expliquée :</a:t>
            </a:r>
          </a:p>
        </p:txBody>
      </p:sp>
    </p:spTree>
    <p:extLst>
      <p:ext uri="{BB962C8B-B14F-4D97-AF65-F5344CB8AC3E}">
        <p14:creationId xmlns:p14="http://schemas.microsoft.com/office/powerpoint/2010/main" val="3621484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769810-93E9-4B3F-8B4A-E50529348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696" y="228600"/>
            <a:ext cx="6851104" cy="1256184"/>
          </a:xfrm>
        </p:spPr>
        <p:txBody>
          <a:bodyPr>
            <a:normAutofit fontScale="90000"/>
          </a:bodyPr>
          <a:lstStyle/>
          <a:p>
            <a:r>
              <a:rPr lang="fr-FR" dirty="0"/>
              <a:t>Exemple de la prévision du coût de production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2799DCA-FA28-499F-8AA0-71220AC8A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fr-FR" smtClean="0"/>
              <a:pPr/>
              <a:t>17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5BD323D-298B-44CD-A045-264BC57CF128}"/>
                  </a:ext>
                </a:extLst>
              </p:cNvPr>
              <p:cNvSpPr txBox="1"/>
              <p:nvPr/>
            </p:nvSpPr>
            <p:spPr>
              <a:xfrm>
                <a:off x="5364088" y="2878305"/>
                <a:ext cx="86409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fr-FR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fr-FR" sz="3200" dirty="0"/>
              </a:p>
            </p:txBody>
          </p:sp>
        </mc:Choice>
        <mc:Fallback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5BD323D-298B-44CD-A045-264BC57CF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2878305"/>
                <a:ext cx="864096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2EDE6B2A-5680-4CE5-9456-8CAFE7D33658}"/>
                  </a:ext>
                </a:extLst>
              </p:cNvPr>
              <p:cNvSpPr txBox="1"/>
              <p:nvPr/>
            </p:nvSpPr>
            <p:spPr>
              <a:xfrm>
                <a:off x="1266189" y="1988840"/>
                <a:ext cx="71352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fr-FR" sz="3200" dirty="0"/>
              </a:p>
            </p:txBody>
          </p:sp>
        </mc:Choice>
        <mc:Fallback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2EDE6B2A-5680-4CE5-9456-8CAFE7D33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189" y="1988840"/>
                <a:ext cx="713523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81D0CAF-EE84-1021-3A56-6A1F47FF3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2636912"/>
            <a:ext cx="1137320" cy="38847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C9F314-F6DA-1078-8E7F-B90F96791F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1880" y="3687307"/>
            <a:ext cx="4656961" cy="103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496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769810-93E9-4B3F-8B4A-E50529348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712" y="228600"/>
            <a:ext cx="6707088" cy="1184176"/>
          </a:xfrm>
        </p:spPr>
        <p:txBody>
          <a:bodyPr>
            <a:normAutofit fontScale="90000"/>
          </a:bodyPr>
          <a:lstStyle/>
          <a:p>
            <a:r>
              <a:rPr lang="fr-FR" dirty="0"/>
              <a:t>Exemple de la prévision du coût de production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2799DCA-FA28-499F-8AA0-71220AC8A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fr-FR" smtClean="0"/>
              <a:pPr/>
              <a:t>18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5BD323D-298B-44CD-A045-264BC57CF128}"/>
                  </a:ext>
                </a:extLst>
              </p:cNvPr>
              <p:cNvSpPr txBox="1"/>
              <p:nvPr/>
            </p:nvSpPr>
            <p:spPr>
              <a:xfrm>
                <a:off x="4203449" y="2257708"/>
                <a:ext cx="17281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sSup>
                            <m:sSupPr>
                              <m:ctrlPr>
                                <a:rPr lang="fr-FR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fr-FR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fr-F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F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sz="2800" dirty="0"/>
              </a:p>
            </p:txBody>
          </p:sp>
        </mc:Choice>
        <mc:Fallback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5BD323D-298B-44CD-A045-264BC57CF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449" y="2257708"/>
                <a:ext cx="172819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2EDE6B2A-5680-4CE5-9456-8CAFE7D33658}"/>
                  </a:ext>
                </a:extLst>
              </p:cNvPr>
              <p:cNvSpPr txBox="1"/>
              <p:nvPr/>
            </p:nvSpPr>
            <p:spPr>
              <a:xfrm>
                <a:off x="821432" y="2211491"/>
                <a:ext cx="100155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fr-F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fr-FR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fr-FR" sz="2800" dirty="0"/>
              </a:p>
            </p:txBody>
          </p:sp>
        </mc:Choice>
        <mc:Fallback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2EDE6B2A-5680-4CE5-9456-8CAFE7D33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32" y="2211491"/>
                <a:ext cx="100155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1CFF1D19-3669-6F8D-9E3E-A6438264A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2780928"/>
            <a:ext cx="2099671" cy="10168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B8FB48-ACE1-FF87-93B4-48E30575B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848" y="2780928"/>
            <a:ext cx="3591891" cy="10168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27584A-E941-B071-E285-9EA7F1223D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432" y="5105266"/>
            <a:ext cx="1313735" cy="12336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ZoneTexte 7">
                <a:extLst>
                  <a:ext uri="{FF2B5EF4-FFF2-40B4-BE49-F238E27FC236}">
                    <a16:creationId xmlns:a16="http://schemas.microsoft.com/office/drawing/2014/main" id="{56469A0B-5F5A-CF7B-1F0D-A43C44FF0965}"/>
                  </a:ext>
                </a:extLst>
              </p:cNvPr>
              <p:cNvSpPr txBox="1"/>
              <p:nvPr/>
            </p:nvSpPr>
            <p:spPr>
              <a:xfrm>
                <a:off x="989596" y="4509120"/>
                <a:ext cx="100155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fr-FR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fr-F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fr-FR" sz="2800" dirty="0"/>
              </a:p>
            </p:txBody>
          </p:sp>
        </mc:Choice>
        <mc:Fallback>
          <p:sp>
            <p:nvSpPr>
              <p:cNvPr id="15" name="ZoneTexte 7">
                <a:extLst>
                  <a:ext uri="{FF2B5EF4-FFF2-40B4-BE49-F238E27FC236}">
                    <a16:creationId xmlns:a16="http://schemas.microsoft.com/office/drawing/2014/main" id="{56469A0B-5F5A-CF7B-1F0D-A43C44FF0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596" y="4509120"/>
                <a:ext cx="100155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ZoneTexte 12">
                <a:extLst>
                  <a:ext uri="{FF2B5EF4-FFF2-40B4-BE49-F238E27FC236}">
                    <a16:creationId xmlns:a16="http://schemas.microsoft.com/office/drawing/2014/main" id="{73BC82F9-175A-349C-6D46-3F3AC309B228}"/>
                  </a:ext>
                </a:extLst>
              </p:cNvPr>
              <p:cNvSpPr txBox="1"/>
              <p:nvPr/>
            </p:nvSpPr>
            <p:spPr>
              <a:xfrm>
                <a:off x="7375828" y="2132856"/>
                <a:ext cx="1516652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19" name="ZoneTexte 12">
                <a:extLst>
                  <a:ext uri="{FF2B5EF4-FFF2-40B4-BE49-F238E27FC236}">
                    <a16:creationId xmlns:a16="http://schemas.microsoft.com/office/drawing/2014/main" id="{73BC82F9-175A-349C-6D46-3F3AC309B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828" y="2132856"/>
                <a:ext cx="1516652" cy="471539"/>
              </a:xfrm>
              <a:prstGeom prst="rect">
                <a:avLst/>
              </a:prstGeom>
              <a:blipFill>
                <a:blip r:embed="rId8"/>
                <a:stretch>
                  <a:fillRect l="-1205" t="-5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ZoneTexte 5">
                <a:extLst>
                  <a:ext uri="{FF2B5EF4-FFF2-40B4-BE49-F238E27FC236}">
                    <a16:creationId xmlns:a16="http://schemas.microsoft.com/office/drawing/2014/main" id="{99F5ED67-DF6F-DD3A-8479-D7650A715DD6}"/>
                  </a:ext>
                </a:extLst>
              </p:cNvPr>
              <p:cNvSpPr txBox="1"/>
              <p:nvPr/>
            </p:nvSpPr>
            <p:spPr>
              <a:xfrm>
                <a:off x="3491880" y="4643844"/>
                <a:ext cx="280831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fr-FR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" name="ZoneTexte 5">
                <a:extLst>
                  <a:ext uri="{FF2B5EF4-FFF2-40B4-BE49-F238E27FC236}">
                    <a16:creationId xmlns:a16="http://schemas.microsoft.com/office/drawing/2014/main" id="{99F5ED67-DF6F-DD3A-8479-D7650A715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4643844"/>
                <a:ext cx="2808312" cy="369332"/>
              </a:xfrm>
              <a:prstGeom prst="rect">
                <a:avLst/>
              </a:prstGeom>
              <a:blipFill>
                <a:blip r:embed="rId9"/>
                <a:stretch>
                  <a:fillRect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B6813900-AE82-937A-1FC3-C460879CE1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6441" y="5147699"/>
            <a:ext cx="987647" cy="114979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BDBDE1F-591C-61E8-A255-7DFA741F57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84590" y="2694344"/>
            <a:ext cx="631826" cy="380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294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96E154-7ACC-48AE-8C34-3ABC5D96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228600"/>
            <a:ext cx="6779096" cy="1143000"/>
          </a:xfrm>
        </p:spPr>
        <p:txBody>
          <a:bodyPr>
            <a:normAutofit fontScale="90000"/>
          </a:bodyPr>
          <a:lstStyle/>
          <a:p>
            <a:pPr algn="l"/>
            <a:r>
              <a:rPr lang="fr-FR" dirty="0"/>
              <a:t>L’équation fondamentale d’analyse de la variance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6F3017-E9AC-41E3-974C-447B3AFD1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fr-FR" smtClean="0"/>
              <a:pPr/>
              <a:t>19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6A2BCEDE-F826-4EC6-8130-2709E0937100}"/>
                  </a:ext>
                </a:extLst>
              </p:cNvPr>
              <p:cNvSpPr txBox="1"/>
              <p:nvPr/>
            </p:nvSpPr>
            <p:spPr>
              <a:xfrm>
                <a:off x="563285" y="3629869"/>
                <a:ext cx="1728192" cy="9866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fr-FR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fName>
                        <m:e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6A2BCEDE-F826-4EC6-8130-2709E0937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85" y="3629869"/>
                <a:ext cx="1728192" cy="986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8AC4DEBE-EF7D-4828-94EE-D3D7BD187902}"/>
                  </a:ext>
                </a:extLst>
              </p:cNvPr>
              <p:cNvSpPr txBox="1"/>
              <p:nvPr/>
            </p:nvSpPr>
            <p:spPr>
              <a:xfrm>
                <a:off x="3059832" y="3629869"/>
                <a:ext cx="1728192" cy="9866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fr-FR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fr-FR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fr-FR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fr-FR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fName>
                        <m:e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8AC4DEBE-EF7D-4828-94EE-D3D7BD187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629869"/>
                <a:ext cx="1728192" cy="986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4CC9ED3E-EF11-4768-AF9A-064664F1825B}"/>
                  </a:ext>
                </a:extLst>
              </p:cNvPr>
              <p:cNvSpPr txBox="1"/>
              <p:nvPr/>
            </p:nvSpPr>
            <p:spPr>
              <a:xfrm>
                <a:off x="5724128" y="3645024"/>
                <a:ext cx="1728192" cy="9866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fr-FR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fr-FR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fr-FR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fName>
                        <m:e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4CC9ED3E-EF11-4768-AF9A-064664F18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8" y="3645024"/>
                <a:ext cx="1728192" cy="986680"/>
              </a:xfrm>
              <a:prstGeom prst="rect">
                <a:avLst/>
              </a:prstGeom>
              <a:blipFill>
                <a:blip r:embed="rId4"/>
                <a:stretch>
                  <a:fillRect r="-1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7">
            <a:extLst>
              <a:ext uri="{FF2B5EF4-FFF2-40B4-BE49-F238E27FC236}">
                <a16:creationId xmlns:a16="http://schemas.microsoft.com/office/drawing/2014/main" id="{DC92C911-5839-4707-97C7-E3D550703EA6}"/>
              </a:ext>
            </a:extLst>
          </p:cNvPr>
          <p:cNvSpPr txBox="1"/>
          <p:nvPr/>
        </p:nvSpPr>
        <p:spPr>
          <a:xfrm>
            <a:off x="287524" y="5115831"/>
            <a:ext cx="85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rgbClr val="00B050"/>
                </a:solidFill>
              </a:rPr>
              <a:t>La variabilité totale (</a:t>
            </a:r>
            <a:r>
              <a:rPr lang="fr-FR" sz="2400" dirty="0">
                <a:solidFill>
                  <a:srgbClr val="FF0000"/>
                </a:solidFill>
              </a:rPr>
              <a:t>SCT</a:t>
            </a:r>
            <a:r>
              <a:rPr lang="fr-FR" sz="2400" dirty="0">
                <a:solidFill>
                  <a:srgbClr val="00B050"/>
                </a:solidFill>
              </a:rPr>
              <a:t>) est égale à la somme de la variabilité expliquée (</a:t>
            </a:r>
            <a:r>
              <a:rPr lang="fr-FR" sz="2400" dirty="0">
                <a:solidFill>
                  <a:srgbClr val="FF0000"/>
                </a:solidFill>
              </a:rPr>
              <a:t>SCE</a:t>
            </a:r>
            <a:r>
              <a:rPr lang="fr-FR" sz="2400" dirty="0">
                <a:solidFill>
                  <a:srgbClr val="00B050"/>
                </a:solidFill>
              </a:rPr>
              <a:t>) et la variabilité résiduelle (</a:t>
            </a:r>
            <a:r>
              <a:rPr lang="fr-FR" sz="2400" dirty="0">
                <a:solidFill>
                  <a:srgbClr val="FF0000"/>
                </a:solidFill>
              </a:rPr>
              <a:t>SCR</a:t>
            </a:r>
            <a:r>
              <a:rPr lang="fr-FR" sz="2400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5B30A6A6-02E9-4DDB-BABE-3E0B805EDFF7}"/>
              </a:ext>
            </a:extLst>
          </p:cNvPr>
          <p:cNvSpPr txBox="1"/>
          <p:nvPr/>
        </p:nvSpPr>
        <p:spPr>
          <a:xfrm>
            <a:off x="287524" y="2360171"/>
            <a:ext cx="85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rgbClr val="00B050"/>
                </a:solidFill>
              </a:rPr>
              <a:t>La Somme des Carrés Totaux (SCT) </a:t>
            </a:r>
            <a:r>
              <a:rPr lang="fr-FR" sz="2400" b="1" dirty="0">
                <a:solidFill>
                  <a:srgbClr val="FF0000"/>
                </a:solidFill>
              </a:rPr>
              <a:t>=</a:t>
            </a:r>
            <a:r>
              <a:rPr lang="fr-FR" sz="2400" dirty="0">
                <a:solidFill>
                  <a:srgbClr val="00B050"/>
                </a:solidFill>
              </a:rPr>
              <a:t> La Somme des Carrés Expliqués (SCE)  </a:t>
            </a:r>
            <a:r>
              <a:rPr lang="fr-FR" sz="2400" b="1" dirty="0">
                <a:solidFill>
                  <a:srgbClr val="FF0000"/>
                </a:solidFill>
              </a:rPr>
              <a:t>+ </a:t>
            </a:r>
            <a:r>
              <a:rPr lang="fr-FR" sz="2400" dirty="0">
                <a:solidFill>
                  <a:srgbClr val="00B050"/>
                </a:solidFill>
              </a:rPr>
              <a:t> La Somme des Carrés Résiduels (SCR)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206FEB4-0DAE-4EF1-934D-AD1D1CC6853C}"/>
              </a:ext>
            </a:extLst>
          </p:cNvPr>
          <p:cNvSpPr txBox="1"/>
          <p:nvPr/>
        </p:nvSpPr>
        <p:spPr>
          <a:xfrm>
            <a:off x="2411760" y="3831431"/>
            <a:ext cx="3432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b="1" dirty="0">
                <a:solidFill>
                  <a:srgbClr val="00B050"/>
                </a:solidFill>
              </a:rPr>
              <a:t>  =                                   +         </a:t>
            </a:r>
          </a:p>
        </p:txBody>
      </p:sp>
    </p:spTree>
    <p:extLst>
      <p:ext uri="{BB962C8B-B14F-4D97-AF65-F5344CB8AC3E}">
        <p14:creationId xmlns:p14="http://schemas.microsoft.com/office/powerpoint/2010/main" val="3727768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96E154-7ACC-48AE-8C34-3ABC5D96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188640"/>
            <a:ext cx="7236296" cy="1348796"/>
          </a:xfrm>
        </p:spPr>
        <p:txBody>
          <a:bodyPr>
            <a:normAutofit fontScale="90000"/>
          </a:bodyPr>
          <a:lstStyle/>
          <a:p>
            <a:pPr algn="l"/>
            <a:r>
              <a:rPr lang="fr-FR" dirty="0"/>
              <a:t>Premières mesures de pertinence du modèle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6F3017-E9AC-41E3-974C-447B3AFD1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5B30A6A6-02E9-4DDB-BABE-3E0B805EDFF7}"/>
              </a:ext>
            </a:extLst>
          </p:cNvPr>
          <p:cNvSpPr txBox="1"/>
          <p:nvPr/>
        </p:nvSpPr>
        <p:spPr>
          <a:xfrm>
            <a:off x="215516" y="2492896"/>
            <a:ext cx="4788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b="1" dirty="0">
                <a:solidFill>
                  <a:srgbClr val="00B050"/>
                </a:solidFill>
              </a:rPr>
              <a:t>Coefficient de corrélation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6E0DC3B-69AF-445C-BA33-27D78251C49A}"/>
                  </a:ext>
                </a:extLst>
              </p:cNvPr>
              <p:cNvSpPr txBox="1"/>
              <p:nvPr/>
            </p:nvSpPr>
            <p:spPr>
              <a:xfrm>
                <a:off x="2483768" y="3226509"/>
                <a:ext cx="3456384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0,93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6E0DC3B-69AF-445C-BA33-27D78251C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3226509"/>
                <a:ext cx="3456384" cy="471539"/>
              </a:xfrm>
              <a:prstGeom prst="rect">
                <a:avLst/>
              </a:prstGeom>
              <a:blipFill>
                <a:blip r:embed="rId2"/>
                <a:stretch>
                  <a:fillRect t="-512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7">
            <a:extLst>
              <a:ext uri="{FF2B5EF4-FFF2-40B4-BE49-F238E27FC236}">
                <a16:creationId xmlns:a16="http://schemas.microsoft.com/office/drawing/2014/main" id="{ACB5B306-42BA-4AA3-B8CE-525FE931C679}"/>
              </a:ext>
            </a:extLst>
          </p:cNvPr>
          <p:cNvSpPr txBox="1"/>
          <p:nvPr/>
        </p:nvSpPr>
        <p:spPr>
          <a:xfrm>
            <a:off x="215516" y="4365104"/>
            <a:ext cx="4068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b="1" dirty="0">
                <a:solidFill>
                  <a:srgbClr val="00B050"/>
                </a:solidFill>
              </a:rPr>
              <a:t>Coefficient de détermination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8D088C-E348-B28E-2D2D-1739958BCC92}"/>
                  </a:ext>
                </a:extLst>
              </p:cNvPr>
              <p:cNvSpPr txBox="1"/>
              <p:nvPr/>
            </p:nvSpPr>
            <p:spPr>
              <a:xfrm>
                <a:off x="2579036" y="5242733"/>
                <a:ext cx="4585252" cy="619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r-FR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fr-FR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𝑆𝐶𝐸</m:t>
                        </m:r>
                      </m:num>
                      <m:den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𝑆𝐶𝑇</m:t>
                        </m:r>
                      </m:den>
                    </m:f>
                  </m:oMath>
                </a14:m>
                <a:r>
                  <a:rPr lang="fr-FR" sz="2400" dirty="0">
                    <a:solidFill>
                      <a:srgbClr val="FF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fr-FR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1−</m:t>
                    </m:r>
                    <m:f>
                      <m:f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𝑆𝐶</m:t>
                        </m:r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𝑆𝐶𝑇</m:t>
                        </m:r>
                      </m:den>
                    </m:f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fr-FR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0,86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8D088C-E348-B28E-2D2D-1739958BC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036" y="5242733"/>
                <a:ext cx="4585252" cy="619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3627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96E154-7ACC-48AE-8C34-3ABC5D96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188640"/>
            <a:ext cx="7236296" cy="13487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Test de Fisher pour la pertinence du modèle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6F3017-E9AC-41E3-974C-447B3AFD1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fr-FR" smtClean="0"/>
              <a:pPr/>
              <a:t>21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6E0DC3B-69AF-445C-BA33-27D78251C49A}"/>
                  </a:ext>
                </a:extLst>
              </p:cNvPr>
              <p:cNvSpPr txBox="1"/>
              <p:nvPr/>
            </p:nvSpPr>
            <p:spPr>
              <a:xfrm>
                <a:off x="269522" y="2132856"/>
                <a:ext cx="6102678" cy="859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4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fr-FR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…=</m:t>
                      </m:r>
                      <m:sSub>
                        <m:sSubPr>
                          <m:ctrlPr>
                            <a:rPr lang="fr-FR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fr-FR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sz="2400" dirty="0">
                  <a:solidFill>
                    <a:srgbClr val="00B05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fr-FR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4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fr-FR" sz="2400" dirty="0">
                    <a:solidFill>
                      <a:srgbClr val="00B050"/>
                    </a:solidFill>
                  </a:rPr>
                  <a:t>  il existe au moins un coefficient non nul</a:t>
                </a:r>
              </a:p>
            </p:txBody>
          </p:sp>
        </mc:Choice>
        <mc:Fallback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6E0DC3B-69AF-445C-BA33-27D78251C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22" y="2132856"/>
                <a:ext cx="6102678" cy="859531"/>
              </a:xfrm>
              <a:prstGeom prst="rect">
                <a:avLst/>
              </a:prstGeom>
              <a:blipFill>
                <a:blip r:embed="rId2"/>
                <a:stretch>
                  <a:fillRect l="-200" b="-15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7">
            <a:extLst>
              <a:ext uri="{FF2B5EF4-FFF2-40B4-BE49-F238E27FC236}">
                <a16:creationId xmlns:a16="http://schemas.microsoft.com/office/drawing/2014/main" id="{ACB5B306-42BA-4AA3-B8CE-525FE931C679}"/>
              </a:ext>
            </a:extLst>
          </p:cNvPr>
          <p:cNvSpPr txBox="1"/>
          <p:nvPr/>
        </p:nvSpPr>
        <p:spPr>
          <a:xfrm>
            <a:off x="287524" y="3068960"/>
            <a:ext cx="7941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rgbClr val="00B050"/>
                </a:solidFill>
              </a:rPr>
              <a:t>Sous l’hypothèse </a:t>
            </a:r>
            <a:r>
              <a:rPr lang="fr-FR" sz="2400" dirty="0">
                <a:solidFill>
                  <a:srgbClr val="FF0000"/>
                </a:solidFill>
              </a:rPr>
              <a:t>H</a:t>
            </a:r>
            <a:r>
              <a:rPr lang="fr-FR" sz="2400" baseline="-25000" dirty="0">
                <a:solidFill>
                  <a:srgbClr val="FF0000"/>
                </a:solidFill>
              </a:rPr>
              <a:t>0</a:t>
            </a:r>
            <a:r>
              <a:rPr lang="fr-FR" sz="2400" dirty="0">
                <a:solidFill>
                  <a:srgbClr val="00B050"/>
                </a:solidFill>
              </a:rPr>
              <a:t> l’observation suivante est une réalisation de la loi de Fisher avec les degrés de liberté (</a:t>
            </a:r>
            <a:r>
              <a:rPr lang="fr-FR" sz="2400" dirty="0">
                <a:solidFill>
                  <a:srgbClr val="FF0000"/>
                </a:solidFill>
              </a:rPr>
              <a:t>p, n-p-1</a:t>
            </a:r>
            <a:r>
              <a:rPr lang="fr-FR" sz="2400" dirty="0">
                <a:solidFill>
                  <a:srgbClr val="00B050"/>
                </a:solidFill>
              </a:rPr>
              <a:t>)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6A01DAE3-0A8D-4846-ADB7-9F4CD17937CA}"/>
                  </a:ext>
                </a:extLst>
              </p:cNvPr>
              <p:cNvSpPr txBox="1"/>
              <p:nvPr/>
            </p:nvSpPr>
            <p:spPr>
              <a:xfrm>
                <a:off x="1871699" y="3947997"/>
                <a:ext cx="5436605" cy="716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r-FR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fr-FR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fr-FR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  </m:t>
                    </m:r>
                    <m:f>
                      <m:f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𝑉𝑅</m:t>
                        </m:r>
                      </m:den>
                    </m:f>
                    <m:r>
                      <a:rPr lang="fr-FR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lin"/>
                            <m:ctrlPr>
                              <a:rPr lang="fr-FR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𝑆𝐶𝐸</m:t>
                            </m:r>
                          </m:num>
                          <m:den>
                            <m:r>
                              <a:rPr lang="fr-FR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num>
                      <m:den>
                        <m:f>
                          <m:fPr>
                            <m:type m:val="lin"/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𝑆𝐶</m:t>
                            </m:r>
                            <m:r>
                              <a:rPr lang="fr-FR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fr-FR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fr-FR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−1)</m:t>
                            </m:r>
                          </m:den>
                        </m:f>
                      </m:den>
                    </m:f>
                  </m:oMath>
                </a14:m>
                <a:r>
                  <a:rPr lang="fr-FR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lin"/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fr-FR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fr-FR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num>
                      <m:den>
                        <m:f>
                          <m:fPr>
                            <m:type m:val="lin"/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fr-FR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fr-FR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−1)</m:t>
                            </m:r>
                          </m:den>
                        </m:f>
                      </m:den>
                    </m:f>
                  </m:oMath>
                </a14:m>
                <a:endParaRPr lang="fr-FR" sz="2400" dirty="0"/>
              </a:p>
            </p:txBody>
          </p:sp>
        </mc:Choice>
        <mc:Fallback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6A01DAE3-0A8D-4846-ADB7-9F4CD1793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699" y="3947997"/>
                <a:ext cx="5436605" cy="7160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42C113-57DF-4317-A7C1-8A9BD908FA8D}"/>
                  </a:ext>
                </a:extLst>
              </p:cNvPr>
              <p:cNvSpPr txBox="1"/>
              <p:nvPr/>
            </p:nvSpPr>
            <p:spPr>
              <a:xfrm>
                <a:off x="395536" y="4822996"/>
                <a:ext cx="794160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fr-FR" sz="2400" dirty="0">
                    <a:solidFill>
                      <a:srgbClr val="00B050"/>
                    </a:solidFill>
                  </a:rPr>
                  <a:t>Le modèle de la régression linéaire est jugé pertinent si l’observation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fr-FR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fr-FR" sz="2400" dirty="0">
                    <a:solidFill>
                      <a:srgbClr val="00B050"/>
                    </a:solidFill>
                  </a:rPr>
                  <a:t> dépasse un seuil critique :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42C113-57DF-4317-A7C1-8A9BD908F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822996"/>
                <a:ext cx="7941603" cy="830997"/>
              </a:xfrm>
              <a:prstGeom prst="rect">
                <a:avLst/>
              </a:prstGeom>
              <a:blipFill>
                <a:blip r:embed="rId4"/>
                <a:stretch>
                  <a:fillRect l="-1228" t="-5882" r="-1151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B01CEC0D-387F-4604-B028-B17D2C971AEE}"/>
                  </a:ext>
                </a:extLst>
              </p:cNvPr>
              <p:cNvSpPr txBox="1"/>
              <p:nvPr/>
            </p:nvSpPr>
            <p:spPr>
              <a:xfrm>
                <a:off x="755576" y="5812962"/>
                <a:ext cx="2304256" cy="5559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</m:t>
                      </m:r>
                      <m:sSubSup>
                        <m:sSubSupPr>
                          <m:ctrlP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0,05</m:t>
                          </m:r>
                        </m:sup>
                      </m:sSubSup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B01CEC0D-387F-4604-B028-B17D2C971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5812962"/>
                <a:ext cx="2304256" cy="5559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769A3C-E42E-A03A-0F12-FFEE83AA7AB1}"/>
                  </a:ext>
                </a:extLst>
              </p:cNvPr>
              <p:cNvSpPr txBox="1"/>
              <p:nvPr/>
            </p:nvSpPr>
            <p:spPr>
              <a:xfrm>
                <a:off x="4781467" y="5923765"/>
                <a:ext cx="4007892" cy="397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Pro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)≤0,05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769A3C-E42E-A03A-0F12-FFEE83AA7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467" y="5923765"/>
                <a:ext cx="4007892" cy="397866"/>
              </a:xfrm>
              <a:prstGeom prst="rect">
                <a:avLst/>
              </a:prstGeom>
              <a:blipFill>
                <a:blip r:embed="rId6"/>
                <a:stretch>
                  <a:fillRect l="-456" r="-760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0079B914-F431-29D3-3187-1C4C5C942234}"/>
              </a:ext>
            </a:extLst>
          </p:cNvPr>
          <p:cNvSpPr/>
          <p:nvPr/>
        </p:nvSpPr>
        <p:spPr>
          <a:xfrm>
            <a:off x="3347864" y="6035031"/>
            <a:ext cx="936104" cy="20228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53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E16395-B511-4B27-BDCD-9896B23FD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490" y="0"/>
            <a:ext cx="7194510" cy="1555270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Tableau d’analyse de la variance et test de Fisher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D9C9678-9615-42B7-86F8-3E06D706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fr-FR" smtClean="0"/>
              <a:pPr/>
              <a:t>22</a:t>
            </a:fld>
            <a:endParaRPr lang="fr-FR"/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EC0B2431-0FD0-46E0-994D-B4B19F35C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56981"/>
              </p:ext>
            </p:extLst>
          </p:nvPr>
        </p:nvGraphicFramePr>
        <p:xfrm>
          <a:off x="179512" y="2204864"/>
          <a:ext cx="8784976" cy="4290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42346896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18384587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1455462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466126307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13219401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56610885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752717960"/>
                    </a:ext>
                  </a:extLst>
                </a:gridCol>
              </a:tblGrid>
              <a:tr h="1072656"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Somme des carrés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Degré de liberté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Carrés moyens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Seuil critique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175095"/>
                  </a:ext>
                </a:extLst>
              </a:tr>
              <a:tr h="1072656">
                <a:tc>
                  <a:txBody>
                    <a:bodyPr/>
                    <a:lstStyle/>
                    <a:p>
                      <a:endParaRPr lang="fr-FR" sz="2000" dirty="0"/>
                    </a:p>
                    <a:p>
                      <a:r>
                        <a:rPr lang="fr-FR" sz="2000" dirty="0"/>
                        <a:t>Expliquée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2699969"/>
                  </a:ext>
                </a:extLst>
              </a:tr>
              <a:tr h="1072656">
                <a:tc>
                  <a:txBody>
                    <a:bodyPr/>
                    <a:lstStyle/>
                    <a:p>
                      <a:endParaRPr lang="fr-FR" sz="2000" dirty="0"/>
                    </a:p>
                    <a:p>
                      <a:r>
                        <a:rPr lang="fr-FR" sz="2000" dirty="0"/>
                        <a:t>Résiduelle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n – p –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699722"/>
                  </a:ext>
                </a:extLst>
              </a:tr>
              <a:tr h="1072656">
                <a:tc>
                  <a:txBody>
                    <a:bodyPr/>
                    <a:lstStyle/>
                    <a:p>
                      <a:endParaRPr lang="fr-FR" sz="2000" dirty="0"/>
                    </a:p>
                    <a:p>
                      <a:r>
                        <a:rPr lang="fr-FR" sz="2000" dirty="0"/>
                        <a:t>Totale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endParaRPr lang="fr-FR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n –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55945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6">
                <a:extLst>
                  <a:ext uri="{FF2B5EF4-FFF2-40B4-BE49-F238E27FC236}">
                    <a16:creationId xmlns:a16="http://schemas.microsoft.com/office/drawing/2014/main" id="{6F777CF0-684A-70EB-FF3C-255D5F5D06C0}"/>
                  </a:ext>
                </a:extLst>
              </p:cNvPr>
              <p:cNvSpPr txBox="1"/>
              <p:nvPr/>
            </p:nvSpPr>
            <p:spPr>
              <a:xfrm>
                <a:off x="1357500" y="4577088"/>
                <a:ext cx="1728192" cy="763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fr-F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fr-FR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fr-FR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fr-F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fName>
                        <m:e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4" name="ZoneTexte 6">
                <a:extLst>
                  <a:ext uri="{FF2B5EF4-FFF2-40B4-BE49-F238E27FC236}">
                    <a16:creationId xmlns:a16="http://schemas.microsoft.com/office/drawing/2014/main" id="{6F777CF0-684A-70EB-FF3C-255D5F5D0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500" y="4577088"/>
                <a:ext cx="1728192" cy="7630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7">
                <a:extLst>
                  <a:ext uri="{FF2B5EF4-FFF2-40B4-BE49-F238E27FC236}">
                    <a16:creationId xmlns:a16="http://schemas.microsoft.com/office/drawing/2014/main" id="{A01D8A55-4609-6E90-65A7-468EF3B4B90A}"/>
                  </a:ext>
                </a:extLst>
              </p:cNvPr>
              <p:cNvSpPr txBox="1"/>
              <p:nvPr/>
            </p:nvSpPr>
            <p:spPr>
              <a:xfrm>
                <a:off x="1357500" y="5526852"/>
                <a:ext cx="1728192" cy="763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fr-F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fr-FR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fr-FR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fr-F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fName>
                        <m:e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7" name="ZoneTexte 7">
                <a:extLst>
                  <a:ext uri="{FF2B5EF4-FFF2-40B4-BE49-F238E27FC236}">
                    <a16:creationId xmlns:a16="http://schemas.microsoft.com/office/drawing/2014/main" id="{A01D8A55-4609-6E90-65A7-468EF3B4B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500" y="5526852"/>
                <a:ext cx="1728192" cy="7630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9">
                <a:extLst>
                  <a:ext uri="{FF2B5EF4-FFF2-40B4-BE49-F238E27FC236}">
                    <a16:creationId xmlns:a16="http://schemas.microsoft.com/office/drawing/2014/main" id="{0C063B06-15AD-DDA9-3237-064F5D2A75D1}"/>
                  </a:ext>
                </a:extLst>
              </p:cNvPr>
              <p:cNvSpPr txBox="1"/>
              <p:nvPr/>
            </p:nvSpPr>
            <p:spPr>
              <a:xfrm>
                <a:off x="1331640" y="3402904"/>
                <a:ext cx="1728192" cy="763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fr-F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fr-FR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fr-FR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fr-FR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fr-FR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fr-F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fName>
                        <m:e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9" name="ZoneTexte 9">
                <a:extLst>
                  <a:ext uri="{FF2B5EF4-FFF2-40B4-BE49-F238E27FC236}">
                    <a16:creationId xmlns:a16="http://schemas.microsoft.com/office/drawing/2014/main" id="{0C063B06-15AD-DDA9-3237-064F5D2A7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3402904"/>
                <a:ext cx="1728192" cy="763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90C80DC8-5B05-5254-05D0-6741F20CC40F}"/>
                  </a:ext>
                </a:extLst>
              </p:cNvPr>
              <p:cNvSpPr txBox="1"/>
              <p:nvPr/>
            </p:nvSpPr>
            <p:spPr>
              <a:xfrm>
                <a:off x="5148064" y="3513131"/>
                <a:ext cx="1292519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fr-FR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𝐶𝑀𝐸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𝐶𝑀𝑅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90C80DC8-5B05-5254-05D0-6741F20CC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3513131"/>
                <a:ext cx="1292519" cy="6127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ZoneTexte 12">
                <a:extLst>
                  <a:ext uri="{FF2B5EF4-FFF2-40B4-BE49-F238E27FC236}">
                    <a16:creationId xmlns:a16="http://schemas.microsoft.com/office/drawing/2014/main" id="{0A324C9D-5C28-2D3C-0CE2-545FAC4F1A80}"/>
                  </a:ext>
                </a:extLst>
              </p:cNvPr>
              <p:cNvSpPr txBox="1"/>
              <p:nvPr/>
            </p:nvSpPr>
            <p:spPr>
              <a:xfrm>
                <a:off x="6516216" y="3635732"/>
                <a:ext cx="12925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fr-FR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fr-FR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fr-FR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fr-FR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5" name="ZoneTexte 12">
                <a:extLst>
                  <a:ext uri="{FF2B5EF4-FFF2-40B4-BE49-F238E27FC236}">
                    <a16:creationId xmlns:a16="http://schemas.microsoft.com/office/drawing/2014/main" id="{0A324C9D-5C28-2D3C-0CE2-545FAC4F1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16" y="3635732"/>
                <a:ext cx="1292519" cy="369332"/>
              </a:xfrm>
              <a:prstGeom prst="rect">
                <a:avLst/>
              </a:prstGeom>
              <a:blipFill>
                <a:blip r:embed="rId6"/>
                <a:stretch>
                  <a:fillRect r="-5189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10">
                <a:extLst>
                  <a:ext uri="{FF2B5EF4-FFF2-40B4-BE49-F238E27FC236}">
                    <a16:creationId xmlns:a16="http://schemas.microsoft.com/office/drawing/2014/main" id="{03CB378E-9D6C-B130-BE2B-D655DB2C04A5}"/>
                  </a:ext>
                </a:extLst>
              </p:cNvPr>
              <p:cNvSpPr txBox="1"/>
              <p:nvPr/>
            </p:nvSpPr>
            <p:spPr>
              <a:xfrm>
                <a:off x="3851921" y="3616684"/>
                <a:ext cx="966678" cy="51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>
                    <a:solidFill>
                      <a:srgbClr val="FF0000"/>
                    </a:solidFill>
                  </a:rPr>
                  <a:t>VE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𝑆𝐶𝐸</m:t>
                        </m:r>
                      </m:num>
                      <m:den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fr-FR" dirty="0"/>
              </a:p>
            </p:txBody>
          </p:sp>
        </mc:Choice>
        <mc:Fallback>
          <p:sp>
            <p:nvSpPr>
              <p:cNvPr id="5" name="ZoneTexte 10">
                <a:extLst>
                  <a:ext uri="{FF2B5EF4-FFF2-40B4-BE49-F238E27FC236}">
                    <a16:creationId xmlns:a16="http://schemas.microsoft.com/office/drawing/2014/main" id="{03CB378E-9D6C-B130-BE2B-D655DB2C0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1" y="3616684"/>
                <a:ext cx="966678" cy="517706"/>
              </a:xfrm>
              <a:prstGeom prst="rect">
                <a:avLst/>
              </a:prstGeom>
              <a:blipFill>
                <a:blip r:embed="rId7"/>
                <a:stretch>
                  <a:fillRect l="-5696" b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11">
                <a:extLst>
                  <a:ext uri="{FF2B5EF4-FFF2-40B4-BE49-F238E27FC236}">
                    <a16:creationId xmlns:a16="http://schemas.microsoft.com/office/drawing/2014/main" id="{12503C98-A732-32DD-24F0-DF13ED858C11}"/>
                  </a:ext>
                </a:extLst>
              </p:cNvPr>
              <p:cNvSpPr txBox="1"/>
              <p:nvPr/>
            </p:nvSpPr>
            <p:spPr>
              <a:xfrm>
                <a:off x="3851920" y="4658338"/>
                <a:ext cx="1292519" cy="51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>
                    <a:solidFill>
                      <a:srgbClr val="FF0000"/>
                    </a:solidFill>
                  </a:rPr>
                  <a:t>VR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𝑆𝐶𝑅</m:t>
                        </m:r>
                      </m:num>
                      <m:den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endParaRPr lang="fr-FR" dirty="0"/>
              </a:p>
            </p:txBody>
          </p:sp>
        </mc:Choice>
        <mc:Fallback>
          <p:sp>
            <p:nvSpPr>
              <p:cNvPr id="8" name="ZoneTexte 11">
                <a:extLst>
                  <a:ext uri="{FF2B5EF4-FFF2-40B4-BE49-F238E27FC236}">
                    <a16:creationId xmlns:a16="http://schemas.microsoft.com/office/drawing/2014/main" id="{12503C98-A732-32DD-24F0-DF13ED858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4658338"/>
                <a:ext cx="1292519" cy="517706"/>
              </a:xfrm>
              <a:prstGeom prst="rect">
                <a:avLst/>
              </a:prstGeom>
              <a:blipFill>
                <a:blip r:embed="rId8"/>
                <a:stretch>
                  <a:fillRect l="-4245" b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4">
                <a:extLst>
                  <a:ext uri="{FF2B5EF4-FFF2-40B4-BE49-F238E27FC236}">
                    <a16:creationId xmlns:a16="http://schemas.microsoft.com/office/drawing/2014/main" id="{5FA126B5-9BEE-7BF9-8149-6AE745A611E3}"/>
                  </a:ext>
                </a:extLst>
              </p:cNvPr>
              <p:cNvSpPr txBox="1"/>
              <p:nvPr/>
            </p:nvSpPr>
            <p:spPr>
              <a:xfrm>
                <a:off x="7815984" y="3609506"/>
                <a:ext cx="1292520" cy="4361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  </m:t>
                          </m:r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fr-FR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0,05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2" name="ZoneTexte 14">
                <a:extLst>
                  <a:ext uri="{FF2B5EF4-FFF2-40B4-BE49-F238E27FC236}">
                    <a16:creationId xmlns:a16="http://schemas.microsoft.com/office/drawing/2014/main" id="{5FA126B5-9BEE-7BF9-8149-6AE745A61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984" y="3609506"/>
                <a:ext cx="1292520" cy="436145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6638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E16395-B511-4B27-BDCD-9896B23FD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490" y="0"/>
            <a:ext cx="7194510" cy="1555270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Tableau d’analyse de la variance et test de Fisher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D9C9678-9615-42B7-86F8-3E06D706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fr-FR" smtClean="0"/>
              <a:pPr/>
              <a:t>23</a:t>
            </a:fld>
            <a:endParaRPr lang="fr-FR"/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EC0B2431-0FD0-46E0-994D-B4B19F35C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662313"/>
              </p:ext>
            </p:extLst>
          </p:nvPr>
        </p:nvGraphicFramePr>
        <p:xfrm>
          <a:off x="179512" y="2204864"/>
          <a:ext cx="8784976" cy="4290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42346896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1838458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11455462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466126307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13219401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6610885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752717960"/>
                    </a:ext>
                  </a:extLst>
                </a:gridCol>
              </a:tblGrid>
              <a:tr h="1072656">
                <a:tc>
                  <a:txBody>
                    <a:bodyPr/>
                    <a:lstStyle/>
                    <a:p>
                      <a:endParaRPr lang="fr-FR" dirty="0"/>
                    </a:p>
                    <a:p>
                      <a:r>
                        <a:rPr lang="fr-FR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Somme des carrés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Degré de liberté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Carrés moyens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  <a:p>
                      <a:pPr algn="ctr"/>
                      <a:r>
                        <a:rPr lang="fr-FR" dirty="0"/>
                        <a:t>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Seuil critique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175095"/>
                  </a:ext>
                </a:extLst>
              </a:tr>
              <a:tr h="1072656">
                <a:tc>
                  <a:txBody>
                    <a:bodyPr/>
                    <a:lstStyle/>
                    <a:p>
                      <a:endParaRPr lang="fr-FR" sz="2000" dirty="0"/>
                    </a:p>
                    <a:p>
                      <a:r>
                        <a:rPr lang="fr-FR" sz="2000" dirty="0"/>
                        <a:t>Expliquée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3 892 784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  <a:p>
                      <a:pPr algn="ctr"/>
                      <a:r>
                        <a:rPr lang="fr-FR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1 946 392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28,08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0,0001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4,26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2699969"/>
                  </a:ext>
                </a:extLst>
              </a:tr>
              <a:tr h="1072656">
                <a:tc>
                  <a:txBody>
                    <a:bodyPr/>
                    <a:lstStyle/>
                    <a:p>
                      <a:endParaRPr lang="fr-FR" sz="2000" dirty="0"/>
                    </a:p>
                    <a:p>
                      <a:r>
                        <a:rPr lang="fr-FR" sz="2000" dirty="0"/>
                        <a:t>Résiduelle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623 742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  <a:p>
                      <a:pPr algn="ctr"/>
                      <a:r>
                        <a:rPr lang="fr-FR" sz="2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69 305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7699722"/>
                  </a:ext>
                </a:extLst>
              </a:tr>
              <a:tr h="1072656">
                <a:tc>
                  <a:txBody>
                    <a:bodyPr/>
                    <a:lstStyle/>
                    <a:p>
                      <a:endParaRPr lang="fr-FR" sz="2000" dirty="0"/>
                    </a:p>
                    <a:p>
                      <a:r>
                        <a:rPr lang="fr-FR" sz="2000" dirty="0"/>
                        <a:t>Totale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fr-FR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4 516 526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  <a:p>
                      <a:pPr algn="ctr"/>
                      <a:r>
                        <a:rPr lang="fr-FR" sz="2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55945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E295409-8AB1-4A77-BC9A-2E821C6FA13B}"/>
              </a:ext>
            </a:extLst>
          </p:cNvPr>
          <p:cNvSpPr/>
          <p:nvPr/>
        </p:nvSpPr>
        <p:spPr>
          <a:xfrm>
            <a:off x="6732240" y="3573016"/>
            <a:ext cx="1008112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6D0FBBE4-1113-4364-822A-14E07987CBCB}"/>
              </a:ext>
            </a:extLst>
          </p:cNvPr>
          <p:cNvCxnSpPr>
            <a:cxnSpLocks/>
          </p:cNvCxnSpPr>
          <p:nvPr/>
        </p:nvCxnSpPr>
        <p:spPr>
          <a:xfrm flipV="1">
            <a:off x="7236296" y="4149080"/>
            <a:ext cx="0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BE333A30-1CE1-45EF-9E8B-B3D857D86341}"/>
              </a:ext>
            </a:extLst>
          </p:cNvPr>
          <p:cNvSpPr txBox="1"/>
          <p:nvPr/>
        </p:nvSpPr>
        <p:spPr>
          <a:xfrm>
            <a:off x="6516216" y="4751513"/>
            <a:ext cx="1584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FF0000"/>
                </a:solidFill>
              </a:rPr>
              <a:t>Le modèle est fiable</a:t>
            </a:r>
          </a:p>
        </p:txBody>
      </p:sp>
    </p:spTree>
    <p:extLst>
      <p:ext uri="{BB962C8B-B14F-4D97-AF65-F5344CB8AC3E}">
        <p14:creationId xmlns:p14="http://schemas.microsoft.com/office/powerpoint/2010/main" val="2371857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96E154-7ACC-48AE-8C34-3ABC5D96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704" y="188640"/>
            <a:ext cx="7236296" cy="13487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Test de </a:t>
            </a:r>
            <a:r>
              <a:rPr lang="fr-FR" dirty="0" err="1"/>
              <a:t>Student</a:t>
            </a:r>
            <a:r>
              <a:rPr lang="fr-FR" dirty="0"/>
              <a:t> pour la pertinence de chaque variable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6F3017-E9AC-41E3-974C-447B3AFD1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fr-FR" smtClean="0"/>
              <a:pPr/>
              <a:t>24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6E0DC3B-69AF-445C-BA33-27D78251C49A}"/>
                  </a:ext>
                </a:extLst>
              </p:cNvPr>
              <p:cNvSpPr txBox="1"/>
              <p:nvPr/>
            </p:nvSpPr>
            <p:spPr>
              <a:xfrm>
                <a:off x="269522" y="2204864"/>
                <a:ext cx="754283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4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m:rPr>
                          <m:sty m:val="p"/>
                        </m:rPr>
                        <a:rPr lang="fr-FR" sz="2400" b="0" i="0" baseline="-25000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fr-FR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ne</m:t>
                      </m:r>
                      <m:r>
                        <a:rPr lang="fr-FR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participe</m:t>
                      </m:r>
                      <m:r>
                        <a:rPr lang="fr-FR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à </m:t>
                      </m:r>
                      <m:sSup>
                        <m:sSupPr>
                          <m:ctrlPr>
                            <a:rPr lang="fr-FR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 sz="24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fr-FR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explication</m:t>
                      </m:r>
                      <m:r>
                        <a:rPr lang="fr-FR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de</m:t>
                      </m:r>
                      <m:r>
                        <a:rPr lang="fr-FR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fr-FR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:(</m:t>
                      </m:r>
                      <m:sSub>
                        <m:sSubPr>
                          <m:ctrlPr>
                            <a:rPr lang="fr-FR" sz="240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sz="2400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fr-FR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dirty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4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fr-FR" sz="2400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m:rPr>
                          <m:sty m:val="p"/>
                        </m:rPr>
                        <a:rPr lang="fr-FR" sz="2400" baseline="-25000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fr-FR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participe</m:t>
                      </m:r>
                      <m:r>
                        <a:rPr lang="fr-FR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bien</m:t>
                      </m:r>
                      <m:r>
                        <a:rPr lang="fr-FR" sz="2400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à </m:t>
                      </m:r>
                      <m:sSup>
                        <m:sSupPr>
                          <m:ctrlPr>
                            <a:rPr lang="fr-FR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4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 sz="24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fr-FR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explication</m:t>
                      </m:r>
                      <m:r>
                        <a:rPr lang="fr-FR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de</m:t>
                      </m:r>
                      <m:r>
                        <a:rPr lang="fr-FR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40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fr-FR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:(</m:t>
                      </m:r>
                      <m:sSub>
                        <m:sSubPr>
                          <m:ctrlPr>
                            <a:rPr lang="fr-FR" sz="2400" i="1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i="1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sz="2400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fr-FR" sz="240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fr-FR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6E0DC3B-69AF-445C-BA33-27D78251C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22" y="2204864"/>
                <a:ext cx="7542838" cy="830997"/>
              </a:xfrm>
              <a:prstGeom prst="rect">
                <a:avLst/>
              </a:prstGeom>
              <a:blipFill>
                <a:blip r:embed="rId2"/>
                <a:stretch>
                  <a:fillRect l="-162" b="-9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7">
            <a:extLst>
              <a:ext uri="{FF2B5EF4-FFF2-40B4-BE49-F238E27FC236}">
                <a16:creationId xmlns:a16="http://schemas.microsoft.com/office/drawing/2014/main" id="{ACB5B306-42BA-4AA3-B8CE-525FE931C679}"/>
              </a:ext>
            </a:extLst>
          </p:cNvPr>
          <p:cNvSpPr txBox="1"/>
          <p:nvPr/>
        </p:nvSpPr>
        <p:spPr>
          <a:xfrm>
            <a:off x="287524" y="3068960"/>
            <a:ext cx="7941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dirty="0">
                <a:solidFill>
                  <a:srgbClr val="00B050"/>
                </a:solidFill>
              </a:rPr>
              <a:t>Sous l’hypothèse </a:t>
            </a:r>
            <a:r>
              <a:rPr lang="fr-FR" sz="2400" dirty="0">
                <a:solidFill>
                  <a:srgbClr val="FF0000"/>
                </a:solidFill>
              </a:rPr>
              <a:t>H</a:t>
            </a:r>
            <a:r>
              <a:rPr lang="fr-FR" sz="2400" baseline="-25000" dirty="0">
                <a:solidFill>
                  <a:srgbClr val="FF0000"/>
                </a:solidFill>
              </a:rPr>
              <a:t>0</a:t>
            </a:r>
            <a:r>
              <a:rPr lang="fr-FR" sz="2400" dirty="0">
                <a:solidFill>
                  <a:srgbClr val="00B050"/>
                </a:solidFill>
              </a:rPr>
              <a:t> l’observation suivante est une réalisation de la loi de </a:t>
            </a:r>
            <a:r>
              <a:rPr lang="fr-FR" sz="2400" dirty="0" err="1">
                <a:solidFill>
                  <a:srgbClr val="00B050"/>
                </a:solidFill>
              </a:rPr>
              <a:t>Student</a:t>
            </a:r>
            <a:r>
              <a:rPr lang="fr-FR" sz="2400" dirty="0">
                <a:solidFill>
                  <a:srgbClr val="00B050"/>
                </a:solidFill>
              </a:rPr>
              <a:t> de degré de liberté </a:t>
            </a:r>
            <a:r>
              <a:rPr lang="fr-FR" sz="2400" dirty="0">
                <a:solidFill>
                  <a:srgbClr val="FF0000"/>
                </a:solidFill>
              </a:rPr>
              <a:t>n-p-1</a:t>
            </a:r>
            <a:r>
              <a:rPr lang="fr-FR" sz="2400" dirty="0">
                <a:solidFill>
                  <a:srgbClr val="00B050"/>
                </a:solidFill>
              </a:rPr>
              <a:t>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42C113-57DF-4317-A7C1-8A9BD908FA8D}"/>
                  </a:ext>
                </a:extLst>
              </p:cNvPr>
              <p:cNvSpPr txBox="1"/>
              <p:nvPr/>
            </p:nvSpPr>
            <p:spPr>
              <a:xfrm>
                <a:off x="395536" y="5046019"/>
                <a:ext cx="7941603" cy="831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fr-FR" sz="2400" dirty="0">
                    <a:solidFill>
                      <a:srgbClr val="00B050"/>
                    </a:solidFill>
                  </a:rPr>
                  <a:t>Où la variance empirique 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fr-FR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00B050"/>
                    </a:solidFill>
                  </a:rPr>
                  <a:t> est le </a:t>
                </a:r>
                <a:r>
                  <a:rPr lang="fr-FR" sz="2400" dirty="0" err="1">
                    <a:solidFill>
                      <a:srgbClr val="00B050"/>
                    </a:solidFill>
                  </a:rPr>
                  <a:t>ième</a:t>
                </a:r>
                <a:r>
                  <a:rPr lang="fr-FR" sz="2400" dirty="0">
                    <a:solidFill>
                      <a:srgbClr val="00B050"/>
                    </a:solidFill>
                  </a:rPr>
                  <a:t> coefficient de la diagonale de la matrice des variances :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42C113-57DF-4317-A7C1-8A9BD908F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046019"/>
                <a:ext cx="7941603" cy="831253"/>
              </a:xfrm>
              <a:prstGeom prst="rect">
                <a:avLst/>
              </a:prstGeom>
              <a:blipFill>
                <a:blip r:embed="rId3"/>
                <a:stretch>
                  <a:fillRect l="-1228" t="-5882" r="-1151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14">
                <a:extLst>
                  <a:ext uri="{FF2B5EF4-FFF2-40B4-BE49-F238E27FC236}">
                    <a16:creationId xmlns:a16="http://schemas.microsoft.com/office/drawing/2014/main" id="{10E24E88-0AA0-027D-A118-9630AA34D1AC}"/>
                  </a:ext>
                </a:extLst>
              </p:cNvPr>
              <p:cNvSpPr txBox="1"/>
              <p:nvPr/>
            </p:nvSpPr>
            <p:spPr>
              <a:xfrm>
                <a:off x="3131839" y="3995332"/>
                <a:ext cx="2160241" cy="945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fr-F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fr-FR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fr-FR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fr-F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sSubSup>
                                <m:sSubSupPr>
                                  <m:ctrlPr>
                                    <a:rPr lang="fr-FR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fr-FR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sub>
                          </m:sSub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6" name="ZoneTexte 14">
                <a:extLst>
                  <a:ext uri="{FF2B5EF4-FFF2-40B4-BE49-F238E27FC236}">
                    <a16:creationId xmlns:a16="http://schemas.microsoft.com/office/drawing/2014/main" id="{10E24E88-0AA0-027D-A118-9630AA34D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39" y="3995332"/>
                <a:ext cx="2160241" cy="9458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10">
                <a:extLst>
                  <a:ext uri="{FF2B5EF4-FFF2-40B4-BE49-F238E27FC236}">
                    <a16:creationId xmlns:a16="http://schemas.microsoft.com/office/drawing/2014/main" id="{404DEC10-ADAE-A87A-BDB3-C9BAE3D9E2F2}"/>
                  </a:ext>
                </a:extLst>
              </p:cNvPr>
              <p:cNvSpPr txBox="1"/>
              <p:nvPr/>
            </p:nvSpPr>
            <p:spPr>
              <a:xfrm>
                <a:off x="2771800" y="6018580"/>
                <a:ext cx="428109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fr-FR" sz="2400" dirty="0">
                    <a:solidFill>
                      <a:srgbClr val="FF0000"/>
                    </a:solidFill>
                  </a:rPr>
                  <a:t>Variances </a:t>
                </a:r>
                <a14:m>
                  <m:oMath xmlns:m="http://schemas.openxmlformats.org/officeDocument/2006/math">
                    <m:r>
                      <a:rPr lang="fr-FR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𝑉𝑅</m:t>
                        </m:r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sSup>
                          <m:sSup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2400" dirty="0"/>
              </a:p>
            </p:txBody>
          </p:sp>
        </mc:Choice>
        <mc:Fallback>
          <p:sp>
            <p:nvSpPr>
              <p:cNvPr id="7" name="ZoneTexte 10">
                <a:extLst>
                  <a:ext uri="{FF2B5EF4-FFF2-40B4-BE49-F238E27FC236}">
                    <a16:creationId xmlns:a16="http://schemas.microsoft.com/office/drawing/2014/main" id="{404DEC10-ADAE-A87A-BDB3-C9BAE3D9E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6018580"/>
                <a:ext cx="4281096" cy="461665"/>
              </a:xfrm>
              <a:prstGeom prst="rect">
                <a:avLst/>
              </a:prstGeom>
              <a:blipFill>
                <a:blip r:embed="rId5"/>
                <a:stretch>
                  <a:fillRect l="-227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719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8CC3F-1BD7-308F-5EA1-D6EF4A27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7D59C5-9127-AB14-1E00-C6C7A5B74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BD591B-58F9-8E95-64D1-D33DC103B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120" y="2264643"/>
            <a:ext cx="5219700" cy="26765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632A50-53E9-D85C-8404-3CDDE25C4B75}"/>
                  </a:ext>
                </a:extLst>
              </p:cNvPr>
              <p:cNvSpPr txBox="1"/>
              <p:nvPr/>
            </p:nvSpPr>
            <p:spPr>
              <a:xfrm>
                <a:off x="533400" y="5295774"/>
                <a:ext cx="7783016" cy="12658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2400" dirty="0">
                    <a:solidFill>
                      <a:srgbClr val="00B050"/>
                    </a:solidFill>
                  </a:rPr>
                  <a:t>Zone d’acceptation de H</a:t>
                </a:r>
                <a:r>
                  <a:rPr lang="fr-FR" sz="2400" baseline="-25000" dirty="0">
                    <a:solidFill>
                      <a:srgbClr val="00B050"/>
                    </a:solidFill>
                  </a:rPr>
                  <a:t>0</a:t>
                </a:r>
                <a:r>
                  <a:rPr lang="fr-FR" sz="2400" dirty="0">
                    <a:solidFill>
                      <a:srgbClr val="00B050"/>
                    </a:solidFill>
                  </a:rPr>
                  <a:t> 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400" b="0" i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Proba</m:t>
                        </m:r>
                      </m:fName>
                      <m:e>
                        <m:r>
                          <a:rPr lang="fr-FR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FR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fr-FR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  <m:r>
                              <a:rPr lang="fr-FR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fr-FR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Sup>
                              <m:sSubSupPr>
                                <m:ctrlPr>
                                  <a:rPr lang="fr-FR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fr-FR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fr-FR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fr-FR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0,975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fr-FR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fr-FR" sz="24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fr-FR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</m:t>
                    </m:r>
                    <m:r>
                      <a:rPr lang="fr-FR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r>
                      <a:rPr lang="fr-FR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endParaRPr lang="fr-FR" sz="2400" baseline="-25000" dirty="0">
                  <a:solidFill>
                    <a:srgbClr val="00B050"/>
                  </a:solidFill>
                </a:endParaRPr>
              </a:p>
              <a:p>
                <a:endParaRPr lang="fr-FR" sz="2400" baseline="-25000" dirty="0">
                  <a:solidFill>
                    <a:srgbClr val="00B050"/>
                  </a:solidFill>
                </a:endParaRPr>
              </a:p>
              <a:p>
                <a:r>
                  <a:rPr lang="fr-FR" sz="2400" dirty="0">
                    <a:solidFill>
                      <a:srgbClr val="00B050"/>
                    </a:solidFill>
                  </a:rPr>
                  <a:t>Zone de rejet de H</a:t>
                </a:r>
                <a:r>
                  <a:rPr lang="fr-FR" sz="2400" baseline="-25000" dirty="0">
                    <a:solidFill>
                      <a:srgbClr val="00B050"/>
                    </a:solidFill>
                  </a:rPr>
                  <a:t>0</a:t>
                </a:r>
                <a:r>
                  <a:rPr lang="fr-FR" sz="2400" dirty="0">
                    <a:solidFill>
                      <a:srgbClr val="00B050"/>
                    </a:solidFill>
                  </a:rPr>
                  <a:t> :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400" b="0" i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Proba</m:t>
                        </m:r>
                      </m:fName>
                      <m:e>
                        <m:r>
                          <a:rPr lang="fr-FR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FR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fr-FR" sz="2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  <m:r>
                              <a:rPr lang="fr-FR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sSubSup>
                              <m:sSubSupPr>
                                <m:ctrlPr>
                                  <a:rPr lang="fr-FR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fr-FR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fr-FR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fr-FR" sz="2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0,975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fr-FR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fr-FR" sz="24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fr-FR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0,05</m:t>
                    </m:r>
                  </m:oMath>
                </a14:m>
                <a:endParaRPr lang="fr-FR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632A50-53E9-D85C-8404-3CDDE25C4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5295774"/>
                <a:ext cx="7783016" cy="1265859"/>
              </a:xfrm>
              <a:prstGeom prst="rect">
                <a:avLst/>
              </a:prstGeom>
              <a:blipFill>
                <a:blip r:embed="rId3"/>
                <a:stretch>
                  <a:fillRect l="-1254" b="-6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99855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D868B7-587A-4560-8B87-FE30C2E90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1232" y="188640"/>
            <a:ext cx="6855568" cy="1328192"/>
          </a:xfrm>
        </p:spPr>
        <p:txBody>
          <a:bodyPr>
            <a:normAutofit fontScale="90000"/>
          </a:bodyPr>
          <a:lstStyle/>
          <a:p>
            <a:r>
              <a:rPr lang="fr-FR" dirty="0"/>
              <a:t>Les observations de </a:t>
            </a:r>
            <a:r>
              <a:rPr lang="fr-FR" dirty="0" err="1"/>
              <a:t>Student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99A2E50-0978-4AFC-B3B6-A33B312F5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fr-FR" smtClean="0"/>
              <a:pPr/>
              <a:t>26</a:t>
            </a:fld>
            <a:endParaRPr lang="fr-F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FC5AD6-64D0-728A-08BE-857119EC199A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H$3:$J$5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9835" y="3068960"/>
            <a:ext cx="3317860" cy="1065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10">
                <a:extLst>
                  <a:ext uri="{FF2B5EF4-FFF2-40B4-BE49-F238E27FC236}">
                    <a16:creationId xmlns:a16="http://schemas.microsoft.com/office/drawing/2014/main" id="{E934B214-B520-8819-7FDC-54665CC354E4}"/>
                  </a:ext>
                </a:extLst>
              </p:cNvPr>
              <p:cNvSpPr txBox="1"/>
              <p:nvPr/>
            </p:nvSpPr>
            <p:spPr>
              <a:xfrm>
                <a:off x="467544" y="2420888"/>
                <a:ext cx="346478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fr-FR" sz="2400" dirty="0">
                    <a:solidFill>
                      <a:srgbClr val="FF0000"/>
                    </a:solidFill>
                  </a:rPr>
                  <a:t>Variances </a:t>
                </a:r>
                <a14:m>
                  <m:oMath xmlns:m="http://schemas.openxmlformats.org/officeDocument/2006/math">
                    <m:r>
                      <a:rPr lang="fr-FR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𝑉𝑅</m:t>
                        </m:r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sSup>
                          <m:sSup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2400" dirty="0"/>
              </a:p>
            </p:txBody>
          </p:sp>
        </mc:Choice>
        <mc:Fallback>
          <p:sp>
            <p:nvSpPr>
              <p:cNvPr id="10" name="ZoneTexte 10">
                <a:extLst>
                  <a:ext uri="{FF2B5EF4-FFF2-40B4-BE49-F238E27FC236}">
                    <a16:creationId xmlns:a16="http://schemas.microsoft.com/office/drawing/2014/main" id="{E934B214-B520-8819-7FDC-54665CC35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420888"/>
                <a:ext cx="3464783" cy="461665"/>
              </a:xfrm>
              <a:prstGeom prst="rect">
                <a:avLst/>
              </a:prstGeom>
              <a:blipFill>
                <a:blip r:embed="rId4"/>
                <a:stretch>
                  <a:fillRect l="-281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759EC29-3B96-B04F-053B-F5FEC5E4F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108" y="3068960"/>
            <a:ext cx="2709268" cy="999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4">
                <a:extLst>
                  <a:ext uri="{FF2B5EF4-FFF2-40B4-BE49-F238E27FC236}">
                    <a16:creationId xmlns:a16="http://schemas.microsoft.com/office/drawing/2014/main" id="{16C2C08F-0B49-4E76-D475-0CAE1340B486}"/>
                  </a:ext>
                </a:extLst>
              </p:cNvPr>
              <p:cNvSpPr txBox="1"/>
              <p:nvPr/>
            </p:nvSpPr>
            <p:spPr>
              <a:xfrm>
                <a:off x="6241702" y="2336859"/>
                <a:ext cx="720080" cy="461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fr-FR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12" name="ZoneTexte 14">
                <a:extLst>
                  <a:ext uri="{FF2B5EF4-FFF2-40B4-BE49-F238E27FC236}">
                    <a16:creationId xmlns:a16="http://schemas.microsoft.com/office/drawing/2014/main" id="{16C2C08F-0B49-4E76-D475-0CAE1340B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702" y="2336859"/>
                <a:ext cx="720080" cy="461921"/>
              </a:xfrm>
              <a:prstGeom prst="rect">
                <a:avLst/>
              </a:prstGeom>
              <a:blipFill>
                <a:blip r:embed="rId6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3C4B0F-CD52-D609-064A-A9C9F4632BF2}"/>
                  </a:ext>
                </a:extLst>
              </p:cNvPr>
              <p:cNvSpPr txBox="1"/>
              <p:nvPr/>
            </p:nvSpPr>
            <p:spPr>
              <a:xfrm>
                <a:off x="467544" y="5157192"/>
                <a:ext cx="8219256" cy="1157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2200" dirty="0">
                    <a:solidFill>
                      <a:srgbClr val="00B050"/>
                    </a:solidFill>
                  </a:rPr>
                  <a:t>Toutes les observations dépassent le seuil critique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FR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b>
                      <m:sup>
                        <m:r>
                          <a:rPr lang="fr-FR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0,975</m:t>
                        </m:r>
                      </m:sup>
                    </m:sSubSup>
                    <m:r>
                      <a:rPr lang="fr-FR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=2,2281</m:t>
                    </m:r>
                    <m:r>
                      <a:rPr lang="fr-FR" sz="22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fr-FR" sz="2200" b="0" dirty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  <a:p>
                <a:endParaRPr lang="fr-FR" sz="220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r>
                  <a:rPr lang="fr-FR" sz="2200" dirty="0">
                    <a:solidFill>
                      <a:srgbClr val="00B050"/>
                    </a:solidFill>
                  </a:rPr>
                  <a:t>Chaque variable </a:t>
                </a:r>
                <a:r>
                  <a:rPr lang="fr-FR" sz="2200" dirty="0">
                    <a:solidFill>
                      <a:srgbClr val="FF0000"/>
                    </a:solidFill>
                  </a:rPr>
                  <a:t>X</a:t>
                </a:r>
                <a:r>
                  <a:rPr lang="fr-FR" sz="2200" baseline="-25000" dirty="0">
                    <a:solidFill>
                      <a:srgbClr val="FF0000"/>
                    </a:solidFill>
                  </a:rPr>
                  <a:t>i</a:t>
                </a:r>
                <a:r>
                  <a:rPr lang="fr-FR" sz="2200" baseline="-25000" dirty="0">
                    <a:solidFill>
                      <a:srgbClr val="00B050"/>
                    </a:solidFill>
                  </a:rPr>
                  <a:t> </a:t>
                </a:r>
                <a:r>
                  <a:rPr lang="fr-FR" sz="2200" dirty="0">
                    <a:solidFill>
                      <a:srgbClr val="00B050"/>
                    </a:solidFill>
                  </a:rPr>
                  <a:t>contribue donc bien à l’explication de </a:t>
                </a:r>
                <a:r>
                  <a:rPr lang="fr-FR" sz="2200" dirty="0">
                    <a:solidFill>
                      <a:srgbClr val="FF0000"/>
                    </a:solidFill>
                  </a:rPr>
                  <a:t>Y.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3C4B0F-CD52-D609-064A-A9C9F4632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157192"/>
                <a:ext cx="8219256" cy="1157946"/>
              </a:xfrm>
              <a:prstGeom prst="rect">
                <a:avLst/>
              </a:prstGeom>
              <a:blipFill>
                <a:blip r:embed="rId7"/>
                <a:stretch>
                  <a:fillRect l="-964" b="-9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472494"/>
      </p:ext>
    </p:extLst>
  </p:cSld>
  <p:clrMapOvr>
    <a:masterClrMapping/>
  </p:clrMapOvr>
</p:sld>
</file>

<file path=ppt/theme/theme1.xml><?xml version="1.0" encoding="utf-8"?>
<a:theme xmlns:a="http://schemas.openxmlformats.org/drawingml/2006/main" name="Mod">
  <a:themeElements>
    <a:clrScheme name="Mod">
      <a:dk1>
        <a:sysClr val="windowText" lastClr="000000"/>
      </a:dk1>
      <a:lt1>
        <a:sysClr val="window" lastClr="FFFFFF"/>
      </a:lt1>
      <a:dk2>
        <a:srgbClr val="065218"/>
      </a:dk2>
      <a:lt2>
        <a:srgbClr val="EDF3AE"/>
      </a:lt2>
      <a:accent1>
        <a:srgbClr val="8FCB17"/>
      </a:accent1>
      <a:accent2>
        <a:srgbClr val="769F11"/>
      </a:accent2>
      <a:accent3>
        <a:srgbClr val="D4E336"/>
      </a:accent3>
      <a:accent4>
        <a:srgbClr val="0C8228"/>
      </a:accent4>
      <a:accent5>
        <a:srgbClr val="C0EDA8"/>
      </a:accent5>
      <a:accent6>
        <a:srgbClr val="3B4F18"/>
      </a:accent6>
      <a:hlink>
        <a:srgbClr val="0A6A21"/>
      </a:hlink>
      <a:folHlink>
        <a:srgbClr val="406EA5"/>
      </a:folHlink>
    </a:clrScheme>
    <a:fontScheme name="Mod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od">
      <a:fillStyleLst>
        <a:solidFill>
          <a:schemeClr val="phClr"/>
        </a:solidFill>
        <a:solidFill>
          <a:schemeClr val="phClr">
            <a:tint val="80000"/>
          </a:schemeClr>
        </a:solidFill>
        <a:solidFill>
          <a:schemeClr val="phClr">
            <a:shade val="30000"/>
            <a:satMod val="150000"/>
          </a:schemeClr>
        </a:solidFill>
      </a:fillStyleLst>
      <a:lnStyleLst>
        <a:ln w="9525" cap="flat" cmpd="sng" algn="ctr">
          <a:solidFill>
            <a:schemeClr val="phClr">
              <a:tint val="90000"/>
              <a:satMod val="105000"/>
            </a:schemeClr>
          </a:solidFill>
          <a:prstDash val="solid"/>
        </a:ln>
        <a:ln w="50800" cap="flat" cmpd="sng" algn="ctr">
          <a:solidFill>
            <a:schemeClr val="phClr">
              <a:tint val="90000"/>
            </a:schemeClr>
          </a:solidFill>
          <a:prstDash val="solid"/>
        </a:ln>
        <a:ln w="76200" cap="flat" cmpd="dbl" algn="ctr">
          <a:solidFill>
            <a:schemeClr val="phClr">
              <a:tint val="9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76200" dist="25400" dir="5400000" sx="101000" sy="101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50800" dir="5400000" sx="101000" sy="101000" rotWithShape="0">
              <a:srgbClr val="000000">
                <a:alpha val="50000"/>
              </a:srgbClr>
            </a:outerShdw>
            <a:reflection blurRad="12700" stA="30000" endPos="30000" dist="50800" dir="5400000" sy="-100000" rotWithShape="0"/>
          </a:effectLst>
          <a:scene3d>
            <a:camera prst="orthographicFront">
              <a:rot lat="0" lon="0" rev="0"/>
            </a:camera>
            <a:lightRig rig="twoPt" dir="t">
              <a:rot lat="0" lon="0" rev="5400000"/>
            </a:lightRig>
          </a:scene3d>
          <a:sp3d prstMaterial="softmetal">
            <a:bevelT w="63500" h="25400" prst="coolSlant"/>
          </a:sp3d>
        </a:effectStyle>
      </a:effectStyleLst>
      <a:bgFillStyleLst>
        <a:solidFill>
          <a:schemeClr val="phClr">
            <a:satMod val="125000"/>
          </a:schemeClr>
        </a:solidFill>
        <a:solidFill>
          <a:schemeClr val="phClr">
            <a:shade val="30000"/>
            <a:satMod val="150000"/>
          </a:schemeClr>
        </a:solidFill>
        <a:gradFill>
          <a:gsLst>
            <a:gs pos="0">
              <a:schemeClr val="phClr">
                <a:tint val="100000"/>
                <a:shade val="80000"/>
                <a:satMod val="135000"/>
              </a:schemeClr>
            </a:gs>
            <a:gs pos="55000">
              <a:schemeClr val="phClr">
                <a:tint val="70000"/>
                <a:shade val="100000"/>
                <a:satMod val="150000"/>
              </a:schemeClr>
            </a:gs>
            <a:gs pos="100000">
              <a:schemeClr val="phClr">
                <a:tint val="70000"/>
                <a:shade val="100000"/>
                <a:satMod val="15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13758</TotalTime>
  <Words>1148</Words>
  <Application>Microsoft Office PowerPoint</Application>
  <PresentationFormat>On-screen Show (4:3)</PresentationFormat>
  <Paragraphs>270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Cambria Math</vt:lpstr>
      <vt:lpstr>Courier New</vt:lpstr>
      <vt:lpstr>Tahoma</vt:lpstr>
      <vt:lpstr>Trebuchet MS</vt:lpstr>
      <vt:lpstr>Wingdings</vt:lpstr>
      <vt:lpstr>Mod</vt:lpstr>
      <vt:lpstr>PowerPoint Presentation</vt:lpstr>
      <vt:lpstr>Régression Linéaire Simple</vt:lpstr>
      <vt:lpstr>Données de la Régression Linéaire Simple</vt:lpstr>
      <vt:lpstr>Le modèle théorique de la régression linéaire simple</vt:lpstr>
      <vt:lpstr>Droite de la  Régression Linéaire Simple</vt:lpstr>
      <vt:lpstr>Principe de la méthode des moindres carrées</vt:lpstr>
      <vt:lpstr>Droite des Moindres carrées</vt:lpstr>
      <vt:lpstr>L’équation fondamentale d’analyse de la variance</vt:lpstr>
      <vt:lpstr>Premières mesures de pertinence du modèle</vt:lpstr>
      <vt:lpstr>Test de Fisher pour la pertinence du modèle</vt:lpstr>
      <vt:lpstr>La loi et le test de Ficher</vt:lpstr>
      <vt:lpstr>Tableau d’analyse de la variance et test de Fisher</vt:lpstr>
      <vt:lpstr>Tableau d’analyse de la variance et test de Fisher</vt:lpstr>
      <vt:lpstr>Régression Linéaire Multiple</vt:lpstr>
      <vt:lpstr>Le modèle théorique de la régression linéaire</vt:lpstr>
      <vt:lpstr>Estimateur des moindre carrées des coefficients</vt:lpstr>
      <vt:lpstr>Exemple de la prévision du coût de production</vt:lpstr>
      <vt:lpstr>Exemple de la prévision du coût de production</vt:lpstr>
      <vt:lpstr>L’équation fondamentale d’analyse de la variance</vt:lpstr>
      <vt:lpstr>Premières mesures de pertinence du modèle</vt:lpstr>
      <vt:lpstr>Test de Fisher pour la pertinence du modèle</vt:lpstr>
      <vt:lpstr>Tableau d’analyse de la variance et test de Fisher</vt:lpstr>
      <vt:lpstr>Tableau d’analyse de la variance et test de Fisher</vt:lpstr>
      <vt:lpstr>Test de Student pour la pertinence de chaque variable</vt:lpstr>
      <vt:lpstr>PowerPoint Presentation</vt:lpstr>
      <vt:lpstr>Les observations de Student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didi</dc:creator>
  <cp:lastModifiedBy>hp</cp:lastModifiedBy>
  <cp:revision>1365</cp:revision>
  <dcterms:created xsi:type="dcterms:W3CDTF">2009-08-28T22:48:27Z</dcterms:created>
  <dcterms:modified xsi:type="dcterms:W3CDTF">2024-01-01T12:57:57Z</dcterms:modified>
</cp:coreProperties>
</file>